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1988800" cy="8996680"/>
  <p:notesSz cx="8996680" cy="119888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2"/>
          <p:cNvSpPr/>
          <p:nvPr/>
        </p:nvSpPr>
        <p:spPr>
          <a:xfrm>
            <a:off x="3822700" y="336550"/>
            <a:ext cx="4343400" cy="1037590"/>
          </a:xfrm>
          <a:prstGeom prst="roundRect">
            <a:avLst>
              <a:gd name="adj" fmla="val 3182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" name="StageTitle 3"/>
          <p:cNvSpPr txBox="1"/>
          <p:nvPr/>
        </p:nvSpPr>
        <p:spPr>
          <a:xfrm>
            <a:off x="3822700" y="177800"/>
            <a:ext cx="4864608" cy="13335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l"/>
            <a:r>
              <a:rPr lang="en-US" sz="850" b="1" dirty="0">
                <a:solidFill>
                  <a:srgbClr val="000000"/>
                </a:solidFill>
                <a:latin typeface="Times New Roman"/>
                <a:cs typeface="Times New Roman"/>
              </a:rPr>
              <a:t>Semantic roles -- keep these stable across every figure in the paper</a:t>
            </a:r>
          </a:p>
        </p:txBody>
      </p:sp>
      <p:sp>
        <p:nvSpPr>
          <p:cNvPr id="4" name="Module 4"/>
          <p:cNvSpPr/>
          <p:nvPr/>
        </p:nvSpPr>
        <p:spPr>
          <a:xfrm>
            <a:off x="3924300" y="438150"/>
            <a:ext cx="939800" cy="201930"/>
          </a:xfrm>
          <a:prstGeom prst="roundRect">
            <a:avLst>
              <a:gd name="adj" fmla="val 16352"/>
            </a:avLst>
          </a:prstGeom>
          <a:solidFill>
            <a:srgbClr val="E7E6E6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Input</a:t>
            </a:r>
          </a:p>
        </p:txBody>
      </p:sp>
      <p:sp>
        <p:nvSpPr>
          <p:cNvPr id="5" name="Module 5"/>
          <p:cNvSpPr/>
          <p:nvPr/>
        </p:nvSpPr>
        <p:spPr>
          <a:xfrm>
            <a:off x="4991100" y="438150"/>
            <a:ext cx="939800" cy="201930"/>
          </a:xfrm>
          <a:prstGeom prst="roundRect">
            <a:avLst>
              <a:gd name="adj" fmla="val 16352"/>
            </a:avLst>
          </a:prstGeom>
          <a:solidFill>
            <a:srgbClr val="DAE3F3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Backbone</a:t>
            </a:r>
          </a:p>
        </p:txBody>
      </p:sp>
      <p:sp>
        <p:nvSpPr>
          <p:cNvPr id="6" name="Module 6"/>
          <p:cNvSpPr/>
          <p:nvPr/>
        </p:nvSpPr>
        <p:spPr>
          <a:xfrm>
            <a:off x="6057900" y="438150"/>
            <a:ext cx="939800" cy="201930"/>
          </a:xfrm>
          <a:prstGeom prst="roundRect">
            <a:avLst>
              <a:gd name="adj" fmla="val 16352"/>
            </a:avLst>
          </a:prstGeom>
          <a:solidFill>
            <a:srgbClr val="DEEBF7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Encoder</a:t>
            </a:r>
          </a:p>
        </p:txBody>
      </p:sp>
      <p:sp>
        <p:nvSpPr>
          <p:cNvPr id="7" name="Module 7"/>
          <p:cNvSpPr/>
          <p:nvPr/>
        </p:nvSpPr>
        <p:spPr>
          <a:xfrm>
            <a:off x="7124700" y="438150"/>
            <a:ext cx="939800" cy="201930"/>
          </a:xfrm>
          <a:prstGeom prst="roundRect">
            <a:avLst>
              <a:gd name="adj" fmla="val 16352"/>
            </a:avLst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Attention</a:t>
            </a:r>
          </a:p>
        </p:txBody>
      </p:sp>
      <p:sp>
        <p:nvSpPr>
          <p:cNvPr id="8" name="Module 8"/>
          <p:cNvSpPr/>
          <p:nvPr/>
        </p:nvSpPr>
        <p:spPr>
          <a:xfrm>
            <a:off x="3924300" y="754380"/>
            <a:ext cx="939800" cy="201930"/>
          </a:xfrm>
          <a:prstGeom prst="roundRect">
            <a:avLst>
              <a:gd name="adj" fmla="val 16352"/>
            </a:avLst>
          </a:prstGeom>
          <a:solidFill>
            <a:srgbClr val="FBE5D6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Core</a:t>
            </a:r>
          </a:p>
        </p:txBody>
      </p:sp>
      <p:sp>
        <p:nvSpPr>
          <p:cNvPr id="9" name="Module 9"/>
          <p:cNvSpPr/>
          <p:nvPr/>
        </p:nvSpPr>
        <p:spPr>
          <a:xfrm>
            <a:off x="4991100" y="754380"/>
            <a:ext cx="939800" cy="201930"/>
          </a:xfrm>
          <a:prstGeom prst="roundRect">
            <a:avLst>
              <a:gd name="adj" fmla="val 16352"/>
            </a:avLst>
          </a:prstGeom>
          <a:solidFill>
            <a:srgbClr val="FFF2CC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Temporal</a:t>
            </a:r>
          </a:p>
        </p:txBody>
      </p:sp>
      <p:sp>
        <p:nvSpPr>
          <p:cNvPr id="10" name="Module 10"/>
          <p:cNvSpPr/>
          <p:nvPr/>
        </p:nvSpPr>
        <p:spPr>
          <a:xfrm>
            <a:off x="6057900" y="754380"/>
            <a:ext cx="939800" cy="201930"/>
          </a:xfrm>
          <a:prstGeom prst="roundRect">
            <a:avLst>
              <a:gd name="adj" fmla="val 16352"/>
            </a:avLst>
          </a:prstGeom>
          <a:solidFill>
            <a:srgbClr val="F8D7D7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Memory</a:t>
            </a:r>
          </a:p>
        </p:txBody>
      </p:sp>
      <p:sp>
        <p:nvSpPr>
          <p:cNvPr id="11" name="Module 11"/>
          <p:cNvSpPr/>
          <p:nvPr/>
        </p:nvSpPr>
        <p:spPr>
          <a:xfrm>
            <a:off x="7124700" y="754380"/>
            <a:ext cx="939800" cy="201930"/>
          </a:xfrm>
          <a:prstGeom prst="roundRect">
            <a:avLst>
              <a:gd name="adj" fmla="val 16352"/>
            </a:avLst>
          </a:prstGeom>
          <a:solidFill>
            <a:srgbClr val="E2F0D9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Decoder</a:t>
            </a:r>
          </a:p>
        </p:txBody>
      </p:sp>
      <p:sp>
        <p:nvSpPr>
          <p:cNvPr id="12" name="Module 12"/>
          <p:cNvSpPr/>
          <p:nvPr/>
        </p:nvSpPr>
        <p:spPr>
          <a:xfrm>
            <a:off x="3924300" y="1070610"/>
            <a:ext cx="939800" cy="201930"/>
          </a:xfrm>
          <a:prstGeom prst="roundRect">
            <a:avLst>
              <a:gd name="adj" fmla="val 16352"/>
            </a:avLst>
          </a:prstGeom>
          <a:solidFill>
            <a:srgbClr val="C5E0B4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Output</a:t>
            </a:r>
          </a:p>
        </p:txBody>
      </p:sp>
      <p:sp>
        <p:nvSpPr>
          <p:cNvPr id="13" name="Module 13"/>
          <p:cNvSpPr/>
          <p:nvPr/>
        </p:nvSpPr>
        <p:spPr>
          <a:xfrm>
            <a:off x="4991100" y="1070610"/>
            <a:ext cx="939800" cy="201930"/>
          </a:xfrm>
          <a:prstGeom prst="roundRect">
            <a:avLst>
              <a:gd name="adj" fmla="val 16352"/>
            </a:avLst>
          </a:prstGeom>
          <a:solidFill>
            <a:srgbClr val="E6F6FC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Aux</a:t>
            </a:r>
          </a:p>
        </p:txBody>
      </p:sp>
      <p:sp>
        <p:nvSpPr>
          <p:cNvPr id="14" name="Module 14"/>
          <p:cNvSpPr/>
          <p:nvPr/>
        </p:nvSpPr>
        <p:spPr>
          <a:xfrm>
            <a:off x="6057900" y="1070610"/>
            <a:ext cx="939800" cy="201930"/>
          </a:xfrm>
          <a:prstGeom prst="roundRect">
            <a:avLst>
              <a:gd name="adj" fmla="val 16352"/>
            </a:avLst>
          </a:prstGeom>
          <a:solidFill>
            <a:srgbClr val="E7E6E6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Baseline</a:t>
            </a:r>
          </a:p>
        </p:txBody>
      </p:sp>
      <p:sp>
        <p:nvSpPr>
          <p:cNvPr id="15" name="Module 15"/>
          <p:cNvSpPr/>
          <p:nvPr/>
        </p:nvSpPr>
        <p:spPr>
          <a:xfrm>
            <a:off x="7124700" y="1070610"/>
            <a:ext cx="939800" cy="201930"/>
          </a:xfrm>
          <a:prstGeom prst="roundRect">
            <a:avLst>
              <a:gd name="adj" fmla="val 16352"/>
            </a:avLst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Neutral</a:t>
            </a:r>
          </a:p>
        </p:txBody>
      </p:sp>
      <p:sp>
        <p:nvSpPr>
          <p:cNvPr id="16" name="Stage 16"/>
          <p:cNvSpPr/>
          <p:nvPr/>
        </p:nvSpPr>
        <p:spPr>
          <a:xfrm>
            <a:off x="4124566" y="1761490"/>
            <a:ext cx="3739660" cy="2556510"/>
          </a:xfrm>
          <a:prstGeom prst="roundRect">
            <a:avLst>
              <a:gd name="adj" fmla="val 1291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7" name="StageTitle 17"/>
          <p:cNvSpPr txBox="1"/>
          <p:nvPr/>
        </p:nvSpPr>
        <p:spPr>
          <a:xfrm>
            <a:off x="4124566" y="1602740"/>
            <a:ext cx="4188419" cy="13335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l"/>
            <a:r>
              <a:rPr lang="en-US" sz="850" b="1" dirty="0">
                <a:solidFill>
                  <a:srgbClr val="000000"/>
                </a:solidFill>
                <a:latin typeface="Times New Roman"/>
                <a:cs typeface="Times New Roman"/>
              </a:rPr>
              <a:t>Shape vocabulary</a:t>
            </a:r>
          </a:p>
        </p:txBody>
      </p:sp>
      <p:sp>
        <p:nvSpPr>
          <p:cNvPr id="18" name="Module 18"/>
          <p:cNvSpPr/>
          <p:nvPr/>
        </p:nvSpPr>
        <p:spPr>
          <a:xfrm>
            <a:off x="4403788" y="1863090"/>
            <a:ext cx="656717" cy="303530"/>
          </a:xfrm>
          <a:prstGeom prst="roundRect">
            <a:avLst>
              <a:gd name="adj" fmla="val 10878"/>
            </a:avLst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Module Box</a:t>
            </a:r>
          </a:p>
        </p:txBody>
      </p:sp>
      <p:sp>
        <p:nvSpPr>
          <p:cNvPr id="19" name="Caption 19"/>
          <p:cNvSpPr txBox="1"/>
          <p:nvPr/>
        </p:nvSpPr>
        <p:spPr>
          <a:xfrm>
            <a:off x="4364385" y="2204720"/>
            <a:ext cx="735523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box</a:t>
            </a:r>
          </a:p>
        </p:txBody>
      </p:sp>
      <p:sp>
        <p:nvSpPr>
          <p:cNvPr id="20" name="Shape 20"/>
          <p:cNvSpPr/>
          <p:nvPr/>
        </p:nvSpPr>
        <p:spPr>
          <a:xfrm>
            <a:off x="5238306" y="1863090"/>
            <a:ext cx="609473" cy="303530"/>
          </a:xfrm>
          <a:custGeom>
            <a:avLst/>
            <a:gdLst>
              <a:gd name="cx0" fmla="*/ w 50000 100000"/>
              <a:gd name="cy0" fmla="*/ h 11000 100000"/>
              <a:gd name="cx1" fmla="*/ w 0 100000"/>
              <a:gd name="cy1" fmla="*/ h 50000 100000"/>
              <a:gd name="cx2" fmla="*/ w 50000 100000"/>
              <a:gd name="cy2" fmla="*/ h 89000 100000"/>
              <a:gd name="cx3" fmla="*/ w 100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609473" h="303530">
                <a:moveTo>
                  <a:pt x="0" y="0"/>
                </a:moveTo>
                <a:lnTo>
                  <a:pt x="609473" y="66777"/>
                </a:lnTo>
                <a:lnTo>
                  <a:pt x="609473" y="236753"/>
                </a:lnTo>
                <a:lnTo>
                  <a:pt x="0" y="303530"/>
                </a:lnTo>
                <a:close/>
              </a:path>
            </a:pathLst>
          </a:cu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Encoder</a:t>
            </a:r>
          </a:p>
        </p:txBody>
      </p:sp>
      <p:sp>
        <p:nvSpPr>
          <p:cNvPr id="21" name="Caption 21"/>
          <p:cNvSpPr txBox="1"/>
          <p:nvPr/>
        </p:nvSpPr>
        <p:spPr>
          <a:xfrm>
            <a:off x="5201737" y="2204720"/>
            <a:ext cx="682610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trapezoid</a:t>
            </a:r>
          </a:p>
        </p:txBody>
      </p:sp>
      <p:sp>
        <p:nvSpPr>
          <p:cNvPr id="22" name="Shape 22"/>
          <p:cNvSpPr/>
          <p:nvPr/>
        </p:nvSpPr>
        <p:spPr>
          <a:xfrm>
            <a:off x="6025578" y="1863090"/>
            <a:ext cx="614712" cy="303530"/>
          </a:xfrm>
          <a:custGeom>
            <a:avLst/>
            <a:gdLst>
              <a:gd name="cx0" fmla="*/ w 50000 100000"/>
              <a:gd name="cy0" fmla="*/ h 11000 100000"/>
              <a:gd name="cx1" fmla="*/ w 0 100000"/>
              <a:gd name="cy1" fmla="*/ h 50000 100000"/>
              <a:gd name="cx2" fmla="*/ w 50000 100000"/>
              <a:gd name="cy2" fmla="*/ h 89000 100000"/>
              <a:gd name="cx3" fmla="*/ w 100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614712" h="303530">
                <a:moveTo>
                  <a:pt x="0" y="66777"/>
                </a:moveTo>
                <a:lnTo>
                  <a:pt x="614712" y="0"/>
                </a:lnTo>
                <a:lnTo>
                  <a:pt x="614712" y="303530"/>
                </a:lnTo>
                <a:lnTo>
                  <a:pt x="0" y="236753"/>
                </a:lnTo>
                <a:close/>
              </a:path>
            </a:pathLst>
          </a:cu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Decoder</a:t>
            </a:r>
          </a:p>
        </p:txBody>
      </p:sp>
      <p:sp>
        <p:nvSpPr>
          <p:cNvPr id="23" name="Caption 23"/>
          <p:cNvSpPr txBox="1"/>
          <p:nvPr/>
        </p:nvSpPr>
        <p:spPr>
          <a:xfrm>
            <a:off x="5988696" y="2204720"/>
            <a:ext cx="688477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invtrapezoid</a:t>
            </a:r>
          </a:p>
        </p:txBody>
      </p:sp>
      <p:sp>
        <p:nvSpPr>
          <p:cNvPr id="24" name="Shape 24"/>
          <p:cNvSpPr/>
          <p:nvPr/>
        </p:nvSpPr>
        <p:spPr>
          <a:xfrm>
            <a:off x="6818097" y="1863090"/>
            <a:ext cx="357632" cy="303530"/>
          </a:xfrm>
          <a:custGeom>
            <a:avLst/>
            <a:gdLst>
              <a:gd name="cx0" fmla="*/ w 50000 100000"/>
              <a:gd name="cy0" fmla="*/ h 0 100000"/>
              <a:gd name="cx1" fmla="*/ w 0 100000"/>
              <a:gd name="cy1" fmla="*/ h 50000 100000"/>
              <a:gd name="cx2" fmla="*/ w 50000 100000"/>
              <a:gd name="cy2" fmla="*/ h 100000 100000"/>
              <a:gd name="cx3" fmla="*/ w 100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357632" h="303530">
                <a:moveTo>
                  <a:pt x="57221" y="0"/>
                </a:moveTo>
                <a:lnTo>
                  <a:pt x="300411" y="0"/>
                </a:lnTo>
                <a:lnTo>
                  <a:pt x="357632" y="151765"/>
                </a:lnTo>
                <a:lnTo>
                  <a:pt x="300411" y="303530"/>
                </a:lnTo>
                <a:lnTo>
                  <a:pt x="57221" y="303530"/>
                </a:lnTo>
                <a:lnTo>
                  <a:pt x="0" y="151765"/>
                </a:lnTo>
                <a:close/>
              </a:path>
            </a:pathLst>
          </a:cu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Gate</a:t>
            </a:r>
          </a:p>
        </p:txBody>
      </p:sp>
      <p:sp>
        <p:nvSpPr>
          <p:cNvPr id="25" name="Caption 25"/>
          <p:cNvSpPr txBox="1"/>
          <p:nvPr/>
        </p:nvSpPr>
        <p:spPr>
          <a:xfrm>
            <a:off x="6792697" y="2204720"/>
            <a:ext cx="408432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hexagon</a:t>
            </a:r>
          </a:p>
        </p:txBody>
      </p:sp>
      <p:sp>
        <p:nvSpPr>
          <p:cNvPr id="26" name="Shape 26"/>
          <p:cNvSpPr/>
          <p:nvPr/>
        </p:nvSpPr>
        <p:spPr>
          <a:xfrm>
            <a:off x="7353529" y="1863090"/>
            <a:ext cx="409108" cy="303530"/>
          </a:xfrm>
          <a:custGeom>
            <a:avLst/>
            <a:gdLst>
              <a:gd name="cx0" fmla="*/ w 60387 100000"/>
              <a:gd name="cy0" fmla="*/ h 0 100000"/>
              <a:gd name="cx1" fmla="*/ w 10387 100000"/>
              <a:gd name="cy1" fmla="*/ h 50000 100000"/>
              <a:gd name="cx2" fmla="*/ w 39613 100000"/>
              <a:gd name="cy2" fmla="*/ h 100000 100000"/>
              <a:gd name="cx3" fmla="*/ w 89613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409108" h="303530">
                <a:moveTo>
                  <a:pt x="84988" y="0"/>
                </a:moveTo>
                <a:lnTo>
                  <a:pt x="409108" y="0"/>
                </a:lnTo>
                <a:lnTo>
                  <a:pt x="324119" y="303530"/>
                </a:lnTo>
                <a:lnTo>
                  <a:pt x="0" y="303530"/>
                </a:lnTo>
                <a:close/>
              </a:path>
            </a:pathLst>
          </a:cu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</a:p>
        </p:txBody>
      </p:sp>
      <p:sp>
        <p:nvSpPr>
          <p:cNvPr id="27" name="Caption 27"/>
          <p:cNvSpPr txBox="1"/>
          <p:nvPr/>
        </p:nvSpPr>
        <p:spPr>
          <a:xfrm>
            <a:off x="7328129" y="2204720"/>
            <a:ext cx="459908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parallelogram</a:t>
            </a:r>
          </a:p>
        </p:txBody>
      </p:sp>
      <p:sp>
        <p:nvSpPr>
          <p:cNvPr id="28" name="Shape 28"/>
          <p:cNvSpPr/>
          <p:nvPr/>
        </p:nvSpPr>
        <p:spPr>
          <a:xfrm>
            <a:off x="4226166" y="2688590"/>
            <a:ext cx="734949" cy="201930"/>
          </a:xfrm>
          <a:custGeom>
            <a:avLst/>
            <a:gdLst>
              <a:gd name="cx0" fmla="*/ w 50000 100000"/>
              <a:gd name="cy0" fmla="*/ h 0 100000"/>
              <a:gd name="cx1" fmla="*/ w 0 100000"/>
              <a:gd name="cy1" fmla="*/ h 50000 100000"/>
              <a:gd name="cx2" fmla="*/ w 50000 100000"/>
              <a:gd name="cy2" fmla="*/ h 100000 100000"/>
              <a:gd name="cx3" fmla="*/ w 100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734949" h="201930">
                <a:moveTo>
                  <a:pt x="0" y="0"/>
                </a:moveTo>
                <a:lnTo>
                  <a:pt x="646049" y="0"/>
                </a:lnTo>
                <a:lnTo>
                  <a:pt x="734949" y="100965"/>
                </a:lnTo>
                <a:lnTo>
                  <a:pt x="646049" y="201930"/>
                </a:lnTo>
                <a:lnTo>
                  <a:pt x="0" y="201930"/>
                </a:lnTo>
                <a:close/>
              </a:path>
            </a:pathLst>
          </a:cu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50" dirty="0">
                <a:solidFill>
                  <a:srgbClr val="000000"/>
                </a:solidFill>
                <a:latin typeface="Times New Roman"/>
                <a:cs typeface="Times New Roman"/>
              </a:rPr>
              <a:t>Memory Op</a:t>
            </a:r>
          </a:p>
        </p:txBody>
      </p:sp>
      <p:sp>
        <p:nvSpPr>
          <p:cNvPr id="29" name="Caption 29"/>
          <p:cNvSpPr txBox="1"/>
          <p:nvPr/>
        </p:nvSpPr>
        <p:spPr>
          <a:xfrm>
            <a:off x="4182069" y="2928620"/>
            <a:ext cx="823143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chevron</a:t>
            </a:r>
          </a:p>
        </p:txBody>
      </p:sp>
      <p:sp>
        <p:nvSpPr>
          <p:cNvPr id="30" name="Shape 30"/>
          <p:cNvSpPr/>
          <p:nvPr/>
        </p:nvSpPr>
        <p:spPr>
          <a:xfrm>
            <a:off x="5138915" y="2560320"/>
            <a:ext cx="787400" cy="330200"/>
          </a:xfrm>
          <a:custGeom>
            <a:avLst/>
            <a:gdLst>
              <a:gd name="cx0" fmla="*/ w 67000 100000"/>
              <a:gd name="cy0" fmla="*/ h 0 100000"/>
              <a:gd name="cx1" fmla="*/ w 17000 100000"/>
              <a:gd name="cy1" fmla="*/ h 50000 100000"/>
              <a:gd name="cx2" fmla="*/ w 33000 100000"/>
              <a:gd name="cy2" fmla="*/ h 100000 100000"/>
              <a:gd name="cx3" fmla="*/ w 83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787400" h="330200">
                <a:moveTo>
                  <a:pt x="267716" y="0"/>
                </a:moveTo>
                <a:lnTo>
                  <a:pt x="787400" y="0"/>
                </a:lnTo>
                <a:lnTo>
                  <a:pt x="519684" y="330200"/>
                </a:lnTo>
                <a:lnTo>
                  <a:pt x="0" y="330200"/>
                </a:lnTo>
                <a:close/>
              </a:path>
            </a:pathLst>
          </a:cu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1" name="Caption 31"/>
          <p:cNvSpPr txBox="1"/>
          <p:nvPr/>
        </p:nvSpPr>
        <p:spPr>
          <a:xfrm>
            <a:off x="5091671" y="2928620"/>
            <a:ext cx="881888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plane</a:t>
            </a:r>
          </a:p>
        </p:txBody>
      </p:sp>
      <p:sp>
        <p:nvSpPr>
          <p:cNvPr id="32" name="CubeFace 32"/>
          <p:cNvSpPr/>
          <p:nvPr/>
        </p:nvSpPr>
        <p:spPr>
          <a:xfrm>
            <a:off x="6104115" y="2509520"/>
            <a:ext cx="381000" cy="3810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3" name="CubeTop 33"/>
          <p:cNvSpPr/>
          <p:nvPr/>
        </p:nvSpPr>
        <p:spPr>
          <a:xfrm>
            <a:off x="6104115" y="2436368"/>
            <a:ext cx="454152" cy="73152"/>
          </a:xfrm>
          <a:custGeom>
            <a:avLst/>
            <a:gdLst>
              <a:gd name="cx0" fmla="*/ w 50000 100000"/>
              <a:gd name="cy0" fmla="*/ h 0 100000"/>
              <a:gd name="cx1" fmla="*/ w 0 100000"/>
              <a:gd name="cy1" fmla="*/ h 50000 100000"/>
              <a:gd name="cx2" fmla="*/ w 50000 100000"/>
              <a:gd name="cy2" fmla="*/ h 100000 100000"/>
              <a:gd name="cx3" fmla="*/ w 100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454152" h="73152">
                <a:moveTo>
                  <a:pt x="0" y="73152"/>
                </a:moveTo>
                <a:lnTo>
                  <a:pt x="73152" y="0"/>
                </a:lnTo>
                <a:lnTo>
                  <a:pt x="454152" y="0"/>
                </a:lnTo>
                <a:lnTo>
                  <a:pt x="381000" y="73152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4" name="CubeSide 34"/>
          <p:cNvSpPr/>
          <p:nvPr/>
        </p:nvSpPr>
        <p:spPr>
          <a:xfrm>
            <a:off x="6485115" y="2436368"/>
            <a:ext cx="73152" cy="454152"/>
          </a:xfrm>
          <a:custGeom>
            <a:avLst/>
            <a:gdLst>
              <a:gd name="cx0" fmla="*/ w 50000 100000"/>
              <a:gd name="cy0" fmla="*/ h 0 100000"/>
              <a:gd name="cx1" fmla="*/ w 0 100000"/>
              <a:gd name="cy1" fmla="*/ h 50000 100000"/>
              <a:gd name="cx2" fmla="*/ w 50000 100000"/>
              <a:gd name="cy2" fmla="*/ h 100000 100000"/>
              <a:gd name="cx3" fmla="*/ w 100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73152" h="454152">
                <a:moveTo>
                  <a:pt x="0" y="73152"/>
                </a:moveTo>
                <a:lnTo>
                  <a:pt x="73152" y="0"/>
                </a:lnTo>
                <a:lnTo>
                  <a:pt x="73152" y="381000"/>
                </a:lnTo>
                <a:lnTo>
                  <a:pt x="0" y="454152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5" name="Caption 35"/>
          <p:cNvSpPr txBox="1"/>
          <p:nvPr/>
        </p:nvSpPr>
        <p:spPr>
          <a:xfrm>
            <a:off x="6076866" y="2928620"/>
            <a:ext cx="508650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cube</a:t>
            </a:r>
          </a:p>
        </p:txBody>
      </p:sp>
      <p:sp>
        <p:nvSpPr>
          <p:cNvPr id="36" name="SlabTop 36"/>
          <p:cNvSpPr/>
          <p:nvPr/>
        </p:nvSpPr>
        <p:spPr>
          <a:xfrm>
            <a:off x="6736067" y="2514600"/>
            <a:ext cx="147320" cy="45720"/>
          </a:xfrm>
          <a:custGeom>
            <a:avLst/>
            <a:gdLst>
              <a:gd name="cx0" fmla="*/ w 50000 100000"/>
              <a:gd name="cy0" fmla="*/ h 0 100000"/>
              <a:gd name="cx1" fmla="*/ w 0 100000"/>
              <a:gd name="cy1" fmla="*/ h 50000 100000"/>
              <a:gd name="cx2" fmla="*/ w 50000 100000"/>
              <a:gd name="cy2" fmla="*/ h 100000 100000"/>
              <a:gd name="cx3" fmla="*/ w 100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147320" h="45720">
                <a:moveTo>
                  <a:pt x="0" y="45720"/>
                </a:moveTo>
                <a:lnTo>
                  <a:pt x="45720" y="0"/>
                </a:lnTo>
                <a:lnTo>
                  <a:pt x="147320" y="0"/>
                </a:lnTo>
                <a:lnTo>
                  <a:pt x="1016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7" name="SlabSide 37"/>
          <p:cNvSpPr/>
          <p:nvPr/>
        </p:nvSpPr>
        <p:spPr>
          <a:xfrm>
            <a:off x="6837667" y="2514600"/>
            <a:ext cx="45720" cy="375920"/>
          </a:xfrm>
          <a:custGeom>
            <a:avLst/>
            <a:gdLst>
              <a:gd name="cx0" fmla="*/ w 50000 100000"/>
              <a:gd name="cy0" fmla="*/ h 0 100000"/>
              <a:gd name="cx1" fmla="*/ w 0 100000"/>
              <a:gd name="cy1" fmla="*/ h 50000 100000"/>
              <a:gd name="cx2" fmla="*/ w 50000 100000"/>
              <a:gd name="cy2" fmla="*/ h 100000 100000"/>
              <a:gd name="cx3" fmla="*/ w 100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45720" h="375920">
                <a:moveTo>
                  <a:pt x="0" y="45720"/>
                </a:moveTo>
                <a:lnTo>
                  <a:pt x="45720" y="0"/>
                </a:lnTo>
                <a:lnTo>
                  <a:pt x="45720" y="330200"/>
                </a:lnTo>
                <a:lnTo>
                  <a:pt x="0" y="3759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8" name="SlabFace 38"/>
          <p:cNvSpPr/>
          <p:nvPr/>
        </p:nvSpPr>
        <p:spPr>
          <a:xfrm>
            <a:off x="6736067" y="2560320"/>
            <a:ext cx="101600" cy="3302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9" name="SlabTop 39"/>
          <p:cNvSpPr/>
          <p:nvPr/>
        </p:nvSpPr>
        <p:spPr>
          <a:xfrm>
            <a:off x="6875767" y="2514600"/>
            <a:ext cx="147320" cy="45720"/>
          </a:xfrm>
          <a:custGeom>
            <a:avLst/>
            <a:gdLst>
              <a:gd name="cx0" fmla="*/ w 50000 100000"/>
              <a:gd name="cy0" fmla="*/ h 0 100000"/>
              <a:gd name="cx1" fmla="*/ w 0 100000"/>
              <a:gd name="cy1" fmla="*/ h 50000 100000"/>
              <a:gd name="cx2" fmla="*/ w 50000 100000"/>
              <a:gd name="cy2" fmla="*/ h 100000 100000"/>
              <a:gd name="cx3" fmla="*/ w 100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147320" h="45720">
                <a:moveTo>
                  <a:pt x="0" y="45720"/>
                </a:moveTo>
                <a:lnTo>
                  <a:pt x="45720" y="0"/>
                </a:lnTo>
                <a:lnTo>
                  <a:pt x="147320" y="0"/>
                </a:lnTo>
                <a:lnTo>
                  <a:pt x="1016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0" name="SlabSide 40"/>
          <p:cNvSpPr/>
          <p:nvPr/>
        </p:nvSpPr>
        <p:spPr>
          <a:xfrm>
            <a:off x="6977367" y="2514600"/>
            <a:ext cx="45720" cy="375920"/>
          </a:xfrm>
          <a:custGeom>
            <a:avLst/>
            <a:gdLst>
              <a:gd name="cx0" fmla="*/ w 50000 100000"/>
              <a:gd name="cy0" fmla="*/ h 0 100000"/>
              <a:gd name="cx1" fmla="*/ w 0 100000"/>
              <a:gd name="cy1" fmla="*/ h 50000 100000"/>
              <a:gd name="cx2" fmla="*/ w 50000 100000"/>
              <a:gd name="cy2" fmla="*/ h 100000 100000"/>
              <a:gd name="cx3" fmla="*/ w 100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45720" h="375920">
                <a:moveTo>
                  <a:pt x="0" y="45720"/>
                </a:moveTo>
                <a:lnTo>
                  <a:pt x="45720" y="0"/>
                </a:lnTo>
                <a:lnTo>
                  <a:pt x="45720" y="330200"/>
                </a:lnTo>
                <a:lnTo>
                  <a:pt x="0" y="3759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1" name="SlabFace 41"/>
          <p:cNvSpPr/>
          <p:nvPr/>
        </p:nvSpPr>
        <p:spPr>
          <a:xfrm>
            <a:off x="6875767" y="2560320"/>
            <a:ext cx="101600" cy="3302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2" name="SlabTop 42"/>
          <p:cNvSpPr/>
          <p:nvPr/>
        </p:nvSpPr>
        <p:spPr>
          <a:xfrm>
            <a:off x="7015467" y="2514600"/>
            <a:ext cx="147320" cy="45720"/>
          </a:xfrm>
          <a:custGeom>
            <a:avLst/>
            <a:gdLst>
              <a:gd name="cx0" fmla="*/ w 50000 100000"/>
              <a:gd name="cy0" fmla="*/ h 0 100000"/>
              <a:gd name="cx1" fmla="*/ w 0 100000"/>
              <a:gd name="cy1" fmla="*/ h 50000 100000"/>
              <a:gd name="cx2" fmla="*/ w 50000 100000"/>
              <a:gd name="cy2" fmla="*/ h 100000 100000"/>
              <a:gd name="cx3" fmla="*/ w 100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147320" h="45720">
                <a:moveTo>
                  <a:pt x="0" y="45720"/>
                </a:moveTo>
                <a:lnTo>
                  <a:pt x="45720" y="0"/>
                </a:lnTo>
                <a:lnTo>
                  <a:pt x="147320" y="0"/>
                </a:lnTo>
                <a:lnTo>
                  <a:pt x="1016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3" name="SlabSide 43"/>
          <p:cNvSpPr/>
          <p:nvPr/>
        </p:nvSpPr>
        <p:spPr>
          <a:xfrm>
            <a:off x="7117067" y="2514600"/>
            <a:ext cx="45720" cy="375920"/>
          </a:xfrm>
          <a:custGeom>
            <a:avLst/>
            <a:gdLst>
              <a:gd name="cx0" fmla="*/ w 50000 100000"/>
              <a:gd name="cy0" fmla="*/ h 0 100000"/>
              <a:gd name="cx1" fmla="*/ w 0 100000"/>
              <a:gd name="cy1" fmla="*/ h 50000 100000"/>
              <a:gd name="cx2" fmla="*/ w 50000 100000"/>
              <a:gd name="cy2" fmla="*/ h 100000 100000"/>
              <a:gd name="cx3" fmla="*/ w 100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45720" h="375920">
                <a:moveTo>
                  <a:pt x="0" y="45720"/>
                </a:moveTo>
                <a:lnTo>
                  <a:pt x="45720" y="0"/>
                </a:lnTo>
                <a:lnTo>
                  <a:pt x="45720" y="330200"/>
                </a:lnTo>
                <a:lnTo>
                  <a:pt x="0" y="3759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4" name="SlabFace 44"/>
          <p:cNvSpPr/>
          <p:nvPr/>
        </p:nvSpPr>
        <p:spPr>
          <a:xfrm>
            <a:off x="7015467" y="2560320"/>
            <a:ext cx="101600" cy="3302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5" name="SlabTop 45"/>
          <p:cNvSpPr/>
          <p:nvPr/>
        </p:nvSpPr>
        <p:spPr>
          <a:xfrm>
            <a:off x="7155167" y="2514600"/>
            <a:ext cx="147320" cy="45720"/>
          </a:xfrm>
          <a:custGeom>
            <a:avLst/>
            <a:gdLst>
              <a:gd name="cx0" fmla="*/ w 50000 100000"/>
              <a:gd name="cy0" fmla="*/ h 0 100000"/>
              <a:gd name="cx1" fmla="*/ w 0 100000"/>
              <a:gd name="cy1" fmla="*/ h 50000 100000"/>
              <a:gd name="cx2" fmla="*/ w 50000 100000"/>
              <a:gd name="cy2" fmla="*/ h 100000 100000"/>
              <a:gd name="cx3" fmla="*/ w 100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147320" h="45720">
                <a:moveTo>
                  <a:pt x="0" y="45720"/>
                </a:moveTo>
                <a:lnTo>
                  <a:pt x="45720" y="0"/>
                </a:lnTo>
                <a:lnTo>
                  <a:pt x="147320" y="0"/>
                </a:lnTo>
                <a:lnTo>
                  <a:pt x="101600" y="45720"/>
                </a:lnTo>
                <a:close/>
              </a:path>
            </a:pathLst>
          </a:custGeom>
          <a:solidFill>
            <a:srgbClr val="C7DDF0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6" name="SlabSide 46"/>
          <p:cNvSpPr/>
          <p:nvPr/>
        </p:nvSpPr>
        <p:spPr>
          <a:xfrm>
            <a:off x="7256767" y="2514600"/>
            <a:ext cx="45720" cy="375920"/>
          </a:xfrm>
          <a:custGeom>
            <a:avLst/>
            <a:gdLst>
              <a:gd name="cx0" fmla="*/ w 50000 100000"/>
              <a:gd name="cy0" fmla="*/ h 0 100000"/>
              <a:gd name="cx1" fmla="*/ w 0 100000"/>
              <a:gd name="cy1" fmla="*/ h 50000 100000"/>
              <a:gd name="cx2" fmla="*/ w 50000 100000"/>
              <a:gd name="cy2" fmla="*/ h 100000 100000"/>
              <a:gd name="cx3" fmla="*/ w 100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45720" h="375920">
                <a:moveTo>
                  <a:pt x="0" y="45720"/>
                </a:moveTo>
                <a:lnTo>
                  <a:pt x="45720" y="0"/>
                </a:lnTo>
                <a:lnTo>
                  <a:pt x="45720" y="330200"/>
                </a:lnTo>
                <a:lnTo>
                  <a:pt x="0" y="375920"/>
                </a:lnTo>
                <a:close/>
              </a:path>
            </a:pathLst>
          </a:custGeom>
          <a:solidFill>
            <a:srgbClr val="AAC1D6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7" name="SlabFace 47"/>
          <p:cNvSpPr/>
          <p:nvPr/>
        </p:nvSpPr>
        <p:spPr>
          <a:xfrm>
            <a:off x="7155167" y="2560320"/>
            <a:ext cx="101600" cy="330200"/>
          </a:xfrm>
          <a:prstGeom prst="rect">
            <a:avLst/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8" name="Caption 48"/>
          <p:cNvSpPr txBox="1"/>
          <p:nvPr/>
        </p:nvSpPr>
        <p:spPr>
          <a:xfrm>
            <a:off x="6702082" y="2928620"/>
            <a:ext cx="634390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slab</a:t>
            </a:r>
          </a:p>
        </p:txBody>
      </p:sp>
      <p:sp>
        <p:nvSpPr>
          <p:cNvPr id="49" name="Token 49"/>
          <p:cNvSpPr/>
          <p:nvPr/>
        </p:nvSpPr>
        <p:spPr>
          <a:xfrm>
            <a:off x="7570657" y="2392680"/>
            <a:ext cx="101600" cy="101600"/>
          </a:xfrm>
          <a:prstGeom prst="roundRect">
            <a:avLst>
              <a:gd name="adj" fmla="val 32500"/>
            </a:avLst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0" name="Token 50"/>
          <p:cNvSpPr/>
          <p:nvPr/>
        </p:nvSpPr>
        <p:spPr>
          <a:xfrm>
            <a:off x="7570657" y="2524760"/>
            <a:ext cx="101600" cy="101600"/>
          </a:xfrm>
          <a:prstGeom prst="roundRect">
            <a:avLst>
              <a:gd name="adj" fmla="val 32500"/>
            </a:avLst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1" name="Token 51"/>
          <p:cNvSpPr/>
          <p:nvPr/>
        </p:nvSpPr>
        <p:spPr>
          <a:xfrm>
            <a:off x="7570657" y="2656840"/>
            <a:ext cx="101600" cy="101600"/>
          </a:xfrm>
          <a:prstGeom prst="roundRect">
            <a:avLst>
              <a:gd name="adj" fmla="val 32500"/>
            </a:avLst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2" name="Token 52"/>
          <p:cNvSpPr/>
          <p:nvPr/>
        </p:nvSpPr>
        <p:spPr>
          <a:xfrm>
            <a:off x="7570657" y="2788920"/>
            <a:ext cx="101600" cy="101600"/>
          </a:xfrm>
          <a:prstGeom prst="roundRect">
            <a:avLst>
              <a:gd name="adj" fmla="val 32500"/>
            </a:avLst>
          </a:pr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3" name="Caption 53"/>
          <p:cNvSpPr txBox="1"/>
          <p:nvPr/>
        </p:nvSpPr>
        <p:spPr>
          <a:xfrm>
            <a:off x="7454887" y="2928620"/>
            <a:ext cx="333139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tokengrid</a:t>
            </a:r>
          </a:p>
        </p:txBody>
      </p:sp>
      <p:sp>
        <p:nvSpPr>
          <p:cNvPr id="54" name="Oval 54"/>
          <p:cNvSpPr/>
          <p:nvPr/>
        </p:nvSpPr>
        <p:spPr>
          <a:xfrm>
            <a:off x="4418430" y="3383280"/>
            <a:ext cx="165100" cy="165100"/>
          </a:xfrm>
          <a:prstGeom prst="ellipse">
            <a:avLst/>
          </a:prstGeom>
          <a:solidFill>
            <a:srgbClr val="FFFFFF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5" name="OpBar 55"/>
          <p:cNvSpPr/>
          <p:nvPr/>
        </p:nvSpPr>
        <p:spPr>
          <a:xfrm>
            <a:off x="4454752" y="3465830"/>
            <a:ext cx="92456" cy="1270"/>
          </a:xfrm>
          <a:custGeom>
            <a:avLst/>
            <a:gdLst/>
            <a:ahLst/>
            <a:cxnLst/>
            <a:rect l="0" t="0" r="r" b="b"/>
            <a:pathLst>
              <a:path w="92456" h="127" fill="none">
                <a:moveTo>
                  <a:pt x="0" y="0"/>
                </a:moveTo>
                <a:lnTo>
                  <a:pt x="92456" y="0"/>
                </a:lnTo>
              </a:path>
            </a:pathLst>
          </a:custGeom>
          <a:noFill/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6" name="OpBar 56"/>
          <p:cNvSpPr/>
          <p:nvPr/>
        </p:nvSpPr>
        <p:spPr>
          <a:xfrm>
            <a:off x="4500980" y="3419602"/>
            <a:ext cx="1270" cy="92456"/>
          </a:xfrm>
          <a:custGeom>
            <a:avLst/>
            <a:gdLst/>
            <a:ahLst/>
            <a:cxnLst/>
            <a:rect l="0" t="0" r="r" b="b"/>
            <a:pathLst>
              <a:path w="127" h="92456" fill="none">
                <a:moveTo>
                  <a:pt x="0" y="0"/>
                </a:moveTo>
                <a:lnTo>
                  <a:pt x="0" y="92456"/>
                </a:lnTo>
              </a:path>
            </a:pathLst>
          </a:custGeom>
          <a:noFill/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7" name="Caption 57"/>
          <p:cNvSpPr txBox="1"/>
          <p:nvPr/>
        </p:nvSpPr>
        <p:spPr>
          <a:xfrm>
            <a:off x="4356951" y="3586480"/>
            <a:ext cx="288059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circleop</a:t>
            </a:r>
          </a:p>
        </p:txBody>
      </p:sp>
      <p:sp>
        <p:nvSpPr>
          <p:cNvPr id="58" name="Oval 58"/>
          <p:cNvSpPr/>
          <p:nvPr/>
        </p:nvSpPr>
        <p:spPr>
          <a:xfrm>
            <a:off x="4833492" y="3383280"/>
            <a:ext cx="165100" cy="165100"/>
          </a:xfrm>
          <a:prstGeom prst="ellipse">
            <a:avLst/>
          </a:prstGeom>
          <a:solidFill>
            <a:srgbClr val="FFFFFF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9" name="OpBar 59"/>
          <p:cNvSpPr/>
          <p:nvPr/>
        </p:nvSpPr>
        <p:spPr>
          <a:xfrm>
            <a:off x="4882758" y="3432546"/>
            <a:ext cx="66568" cy="66568"/>
          </a:xfrm>
          <a:custGeom>
            <a:avLst/>
            <a:gdLst/>
            <a:ahLst/>
            <a:cxnLst/>
            <a:rect l="0" t="0" r="r" b="b"/>
            <a:pathLst>
              <a:path w="66568" h="66568" fill="none">
                <a:moveTo>
                  <a:pt x="0" y="0"/>
                </a:moveTo>
                <a:lnTo>
                  <a:pt x="66568" y="66568"/>
                </a:lnTo>
              </a:path>
            </a:pathLst>
          </a:custGeom>
          <a:noFill/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0" name="OpBar 60"/>
          <p:cNvSpPr/>
          <p:nvPr/>
        </p:nvSpPr>
        <p:spPr>
          <a:xfrm>
            <a:off x="4882758" y="3432546"/>
            <a:ext cx="66568" cy="66568"/>
          </a:xfrm>
          <a:custGeom>
            <a:avLst/>
            <a:gdLst/>
            <a:ahLst/>
            <a:cxnLst/>
            <a:rect l="0" t="0" r="r" b="b"/>
            <a:pathLst>
              <a:path w="66568" h="66568" fill="none">
                <a:moveTo>
                  <a:pt x="0" y="66568"/>
                </a:moveTo>
                <a:lnTo>
                  <a:pt x="66568" y="0"/>
                </a:lnTo>
              </a:path>
            </a:pathLst>
          </a:custGeom>
          <a:noFill/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1" name="Caption 61"/>
          <p:cNvSpPr txBox="1"/>
          <p:nvPr/>
        </p:nvSpPr>
        <p:spPr>
          <a:xfrm>
            <a:off x="4772012" y="3586480"/>
            <a:ext cx="288059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circleop</a:t>
            </a:r>
          </a:p>
        </p:txBody>
      </p:sp>
      <p:sp>
        <p:nvSpPr>
          <p:cNvPr id="62" name="ImageSlot 62"/>
          <p:cNvSpPr/>
          <p:nvPr/>
        </p:nvSpPr>
        <p:spPr>
          <a:xfrm>
            <a:off x="5212474" y="3116580"/>
            <a:ext cx="685800" cy="431800"/>
          </a:xfrm>
          <a:prstGeom prst="rect">
            <a:avLst/>
          </a:prstGeom>
          <a:solidFill>
            <a:srgbClr val="F2F2F2"/>
          </a:solidFill>
          <a:ln w="2413" cap="flat">
            <a:solidFill>
              <a:srgbClr val="A6A6A6"/>
            </a:solidFill>
            <a:prstDash val="dash"/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595959"/>
                </a:solidFill>
                <a:latin typeface="Times New Roman"/>
                <a:cs typeface="Times New Roman"/>
              </a:rPr>
              <a:t>panel</a:t>
            </a:r>
          </a:p>
        </p:txBody>
      </p:sp>
      <p:sp>
        <p:nvSpPr>
          <p:cNvPr id="63" name="Caption 63"/>
          <p:cNvSpPr txBox="1"/>
          <p:nvPr/>
        </p:nvSpPr>
        <p:spPr>
          <a:xfrm>
            <a:off x="5171326" y="3586480"/>
            <a:ext cx="768096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image</a:t>
            </a:r>
          </a:p>
        </p:txBody>
      </p:sp>
      <p:sp>
        <p:nvSpPr>
          <p:cNvPr id="64" name="Frame 64"/>
          <p:cNvSpPr/>
          <p:nvPr/>
        </p:nvSpPr>
        <p:spPr>
          <a:xfrm>
            <a:off x="607607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5" name="Frame 65"/>
          <p:cNvSpPr/>
          <p:nvPr/>
        </p:nvSpPr>
        <p:spPr>
          <a:xfrm>
            <a:off x="612433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6" name="Frame 66"/>
          <p:cNvSpPr/>
          <p:nvPr/>
        </p:nvSpPr>
        <p:spPr>
          <a:xfrm>
            <a:off x="617259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7" name="Frame 67"/>
          <p:cNvSpPr/>
          <p:nvPr/>
        </p:nvSpPr>
        <p:spPr>
          <a:xfrm>
            <a:off x="622085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8" name="Frame 68"/>
          <p:cNvSpPr/>
          <p:nvPr/>
        </p:nvSpPr>
        <p:spPr>
          <a:xfrm>
            <a:off x="626911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9" name="Frame 69"/>
          <p:cNvSpPr/>
          <p:nvPr/>
        </p:nvSpPr>
        <p:spPr>
          <a:xfrm>
            <a:off x="631737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70" name="Frame 70"/>
          <p:cNvSpPr/>
          <p:nvPr/>
        </p:nvSpPr>
        <p:spPr>
          <a:xfrm>
            <a:off x="636563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71" name="Frame 71"/>
          <p:cNvSpPr/>
          <p:nvPr/>
        </p:nvSpPr>
        <p:spPr>
          <a:xfrm>
            <a:off x="641389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72" name="Frame 72"/>
          <p:cNvSpPr/>
          <p:nvPr/>
        </p:nvSpPr>
        <p:spPr>
          <a:xfrm>
            <a:off x="646215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73" name="Frame 73"/>
          <p:cNvSpPr/>
          <p:nvPr/>
        </p:nvSpPr>
        <p:spPr>
          <a:xfrm>
            <a:off x="651041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74" name="Frame 74"/>
          <p:cNvSpPr/>
          <p:nvPr/>
        </p:nvSpPr>
        <p:spPr>
          <a:xfrm>
            <a:off x="655867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75" name="Frame 75"/>
          <p:cNvSpPr/>
          <p:nvPr/>
        </p:nvSpPr>
        <p:spPr>
          <a:xfrm>
            <a:off x="660693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76" name="Frame 76"/>
          <p:cNvSpPr/>
          <p:nvPr/>
        </p:nvSpPr>
        <p:spPr>
          <a:xfrm>
            <a:off x="665519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77" name="Frame 77"/>
          <p:cNvSpPr/>
          <p:nvPr/>
        </p:nvSpPr>
        <p:spPr>
          <a:xfrm>
            <a:off x="670345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78" name="Frame 78"/>
          <p:cNvSpPr/>
          <p:nvPr/>
        </p:nvSpPr>
        <p:spPr>
          <a:xfrm>
            <a:off x="675171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79" name="Frame 79"/>
          <p:cNvSpPr/>
          <p:nvPr/>
        </p:nvSpPr>
        <p:spPr>
          <a:xfrm>
            <a:off x="679997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80" name="Frame 80"/>
          <p:cNvSpPr/>
          <p:nvPr/>
        </p:nvSpPr>
        <p:spPr>
          <a:xfrm>
            <a:off x="684823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81" name="Frame 81"/>
          <p:cNvSpPr/>
          <p:nvPr/>
        </p:nvSpPr>
        <p:spPr>
          <a:xfrm>
            <a:off x="689649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82" name="Frame 82"/>
          <p:cNvSpPr/>
          <p:nvPr/>
        </p:nvSpPr>
        <p:spPr>
          <a:xfrm>
            <a:off x="694475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83" name="Frame 83"/>
          <p:cNvSpPr/>
          <p:nvPr/>
        </p:nvSpPr>
        <p:spPr>
          <a:xfrm>
            <a:off x="6993014" y="3408680"/>
            <a:ext cx="33020" cy="139700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84" name="Caption 84"/>
          <p:cNvSpPr txBox="1"/>
          <p:nvPr/>
        </p:nvSpPr>
        <p:spPr>
          <a:xfrm>
            <a:off x="6019076" y="3586480"/>
            <a:ext cx="1063955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framestrip</a:t>
            </a:r>
          </a:p>
        </p:txBody>
      </p:sp>
      <p:sp>
        <p:nvSpPr>
          <p:cNvPr id="85" name="Density 85"/>
          <p:cNvSpPr/>
          <p:nvPr/>
        </p:nvSpPr>
        <p:spPr>
          <a:xfrm>
            <a:off x="7203834" y="3285744"/>
            <a:ext cx="558800" cy="262636"/>
          </a:xfrm>
          <a:custGeom>
            <a:avLst/>
            <a:gdLst>
              <a:gd name="cx0" fmla="*/ w 50000 100000"/>
              <a:gd name="cy0" fmla="*/ h 0 100000"/>
              <a:gd name="cx1" fmla="*/ w 0 100000"/>
              <a:gd name="cy1" fmla="*/ h 50000 100000"/>
              <a:gd name="cx2" fmla="*/ w 50000 100000"/>
              <a:gd name="cy2" fmla="*/ h 100000 100000"/>
              <a:gd name="cx3" fmla="*/ w 100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558800" h="262636">
                <a:moveTo>
                  <a:pt x="0" y="262636"/>
                </a:moveTo>
                <a:lnTo>
                  <a:pt x="0" y="259718"/>
                </a:lnTo>
                <a:lnTo>
                  <a:pt x="17462" y="257605"/>
                </a:lnTo>
                <a:lnTo>
                  <a:pt x="34925" y="254259"/>
                </a:lnTo>
                <a:lnTo>
                  <a:pt x="52388" y="249171"/>
                </a:lnTo>
                <a:lnTo>
                  <a:pt x="69850" y="241741"/>
                </a:lnTo>
                <a:lnTo>
                  <a:pt x="87312" y="231330"/>
                </a:lnTo>
                <a:lnTo>
                  <a:pt x="104775" y="217352"/>
                </a:lnTo>
                <a:lnTo>
                  <a:pt x="122238" y="199396"/>
                </a:lnTo>
                <a:lnTo>
                  <a:pt x="139700" y="177371"/>
                </a:lnTo>
                <a:lnTo>
                  <a:pt x="157162" y="151646"/>
                </a:lnTo>
                <a:lnTo>
                  <a:pt x="174625" y="123151"/>
                </a:lnTo>
                <a:lnTo>
                  <a:pt x="192088" y="93396"/>
                </a:lnTo>
                <a:lnTo>
                  <a:pt x="209550" y="64388"/>
                </a:lnTo>
                <a:lnTo>
                  <a:pt x="227012" y="38430"/>
                </a:lnTo>
                <a:lnTo>
                  <a:pt x="244475" y="17832"/>
                </a:lnTo>
                <a:lnTo>
                  <a:pt x="261938" y="4576"/>
                </a:lnTo>
                <a:lnTo>
                  <a:pt x="279400" y="0"/>
                </a:lnTo>
                <a:lnTo>
                  <a:pt x="296862" y="4576"/>
                </a:lnTo>
                <a:lnTo>
                  <a:pt x="314325" y="17832"/>
                </a:lnTo>
                <a:lnTo>
                  <a:pt x="331788" y="38430"/>
                </a:lnTo>
                <a:lnTo>
                  <a:pt x="349250" y="64388"/>
                </a:lnTo>
                <a:lnTo>
                  <a:pt x="366712" y="93396"/>
                </a:lnTo>
                <a:lnTo>
                  <a:pt x="384175" y="123151"/>
                </a:lnTo>
                <a:lnTo>
                  <a:pt x="401638" y="151646"/>
                </a:lnTo>
                <a:lnTo>
                  <a:pt x="419100" y="177371"/>
                </a:lnTo>
                <a:lnTo>
                  <a:pt x="436562" y="199396"/>
                </a:lnTo>
                <a:lnTo>
                  <a:pt x="454025" y="217352"/>
                </a:lnTo>
                <a:lnTo>
                  <a:pt x="471488" y="231330"/>
                </a:lnTo>
                <a:lnTo>
                  <a:pt x="488950" y="241741"/>
                </a:lnTo>
                <a:lnTo>
                  <a:pt x="506412" y="249171"/>
                </a:lnTo>
                <a:lnTo>
                  <a:pt x="523875" y="254259"/>
                </a:lnTo>
                <a:lnTo>
                  <a:pt x="541338" y="257605"/>
                </a:lnTo>
                <a:lnTo>
                  <a:pt x="558800" y="259718"/>
                </a:lnTo>
                <a:lnTo>
                  <a:pt x="558800" y="262636"/>
                </a:lnTo>
                <a:close/>
              </a:path>
            </a:pathLst>
          </a:cu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86" name="Caption 86"/>
          <p:cNvSpPr txBox="1"/>
          <p:nvPr/>
        </p:nvSpPr>
        <p:spPr>
          <a:xfrm>
            <a:off x="7170306" y="3586480"/>
            <a:ext cx="625856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dist</a:t>
            </a:r>
          </a:p>
        </p:txBody>
      </p:sp>
      <p:sp>
        <p:nvSpPr>
          <p:cNvPr id="87" name="Density 87"/>
          <p:cNvSpPr/>
          <p:nvPr/>
        </p:nvSpPr>
        <p:spPr>
          <a:xfrm>
            <a:off x="6480010" y="3842037"/>
            <a:ext cx="558800" cy="262603"/>
          </a:xfrm>
          <a:custGeom>
            <a:avLst/>
            <a:gdLst>
              <a:gd name="cx0" fmla="*/ w 50000 100000"/>
              <a:gd name="cy0" fmla="*/ h 0 100000"/>
              <a:gd name="cx1" fmla="*/ w 0 100000"/>
              <a:gd name="cy1" fmla="*/ h 50000 100000"/>
              <a:gd name="cx2" fmla="*/ w 50000 100000"/>
              <a:gd name="cy2" fmla="*/ h 100000 100000"/>
              <a:gd name="cx3" fmla="*/ w 100000 100000"/>
              <a:gd name="cy3" fmla="*/ h 50000 100000"/>
            </a:gdLst>
            <a:ahLst/>
            <a:cxnLst>
              <a:cxn ang="16200000">
                <a:pos x="cx0" y="cy0"/>
              </a:cxn>
              <a:cxn ang="10800000">
                <a:pos x="cx1" y="cy1"/>
              </a:cxn>
              <a:cxn ang="5400000">
                <a:pos x="cx2" y="cy2"/>
              </a:cxn>
              <a:cxn ang="0">
                <a:pos x="cx3" y="cy3"/>
              </a:cxn>
            </a:cxnLst>
            <a:rect l="0" t="0" r="r" b="b"/>
            <a:pathLst>
              <a:path w="558800" h="262603">
                <a:moveTo>
                  <a:pt x="0" y="262603"/>
                </a:moveTo>
                <a:lnTo>
                  <a:pt x="0" y="206094"/>
                </a:lnTo>
                <a:lnTo>
                  <a:pt x="17462" y="177350"/>
                </a:lnTo>
                <a:lnTo>
                  <a:pt x="34925" y="141949"/>
                </a:lnTo>
                <a:lnTo>
                  <a:pt x="52388" y="102422"/>
                </a:lnTo>
                <a:lnTo>
                  <a:pt x="69850" y="63112"/>
                </a:lnTo>
                <a:lnTo>
                  <a:pt x="87313" y="29540"/>
                </a:lnTo>
                <a:lnTo>
                  <a:pt x="104775" y="7177"/>
                </a:lnTo>
                <a:lnTo>
                  <a:pt x="122238" y="0"/>
                </a:lnTo>
                <a:lnTo>
                  <a:pt x="139700" y="9332"/>
                </a:lnTo>
                <a:lnTo>
                  <a:pt x="157163" y="33437"/>
                </a:lnTo>
                <a:lnTo>
                  <a:pt x="174625" y="68033"/>
                </a:lnTo>
                <a:lnTo>
                  <a:pt x="192088" y="107499"/>
                </a:lnTo>
                <a:lnTo>
                  <a:pt x="209550" y="146288"/>
                </a:lnTo>
                <a:lnTo>
                  <a:pt x="227013" y="180049"/>
                </a:lnTo>
                <a:lnTo>
                  <a:pt x="244475" y="206117"/>
                </a:lnTo>
                <a:lnTo>
                  <a:pt x="261938" y="223397"/>
                </a:lnTo>
                <a:lnTo>
                  <a:pt x="279400" y="231852"/>
                </a:lnTo>
                <a:lnTo>
                  <a:pt x="296863" y="231956"/>
                </a:lnTo>
                <a:lnTo>
                  <a:pt x="314325" y="224356"/>
                </a:lnTo>
                <a:lnTo>
                  <a:pt x="331788" y="209879"/>
                </a:lnTo>
                <a:lnTo>
                  <a:pt x="349250" y="189798"/>
                </a:lnTo>
                <a:lnTo>
                  <a:pt x="366713" y="166149"/>
                </a:lnTo>
                <a:lnTo>
                  <a:pt x="384175" y="141856"/>
                </a:lnTo>
                <a:lnTo>
                  <a:pt x="401638" y="120478"/>
                </a:lnTo>
                <a:lnTo>
                  <a:pt x="419100" y="105560"/>
                </a:lnTo>
                <a:lnTo>
                  <a:pt x="436563" y="99785"/>
                </a:lnTo>
                <a:lnTo>
                  <a:pt x="454025" y="104238"/>
                </a:lnTo>
                <a:lnTo>
                  <a:pt x="471488" y="118104"/>
                </a:lnTo>
                <a:lnTo>
                  <a:pt x="488950" y="138919"/>
                </a:lnTo>
                <a:lnTo>
                  <a:pt x="506413" y="163291"/>
                </a:lnTo>
                <a:lnTo>
                  <a:pt x="523875" y="187798"/>
                </a:lnTo>
                <a:lnTo>
                  <a:pt x="541338" y="209746"/>
                </a:lnTo>
                <a:lnTo>
                  <a:pt x="558800" y="227568"/>
                </a:lnTo>
                <a:lnTo>
                  <a:pt x="558800" y="262603"/>
                </a:lnTo>
                <a:close/>
              </a:path>
            </a:pathLst>
          </a:custGeom>
          <a:solidFill>
            <a:srgbClr val="BDD7EE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88" name="Caption 88"/>
          <p:cNvSpPr txBox="1"/>
          <p:nvPr/>
        </p:nvSpPr>
        <p:spPr>
          <a:xfrm>
            <a:off x="6446482" y="4142740"/>
            <a:ext cx="625856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dist</a:t>
            </a:r>
          </a:p>
        </p:txBody>
      </p:sp>
      <p:sp>
        <p:nvSpPr>
          <p:cNvPr id="89" name="Brace 89"/>
          <p:cNvSpPr/>
          <p:nvPr/>
        </p:nvSpPr>
        <p:spPr>
          <a:xfrm>
            <a:off x="7277297" y="3774440"/>
            <a:ext cx="60960" cy="330200"/>
          </a:xfrm>
          <a:custGeom>
            <a:avLst/>
            <a:gdLst/>
            <a:ahLst/>
            <a:cxnLst/>
            <a:rect l="0" t="0" r="r" b="b"/>
            <a:pathLst>
              <a:path w="60960" h="330200" fill="none">
                <a:moveTo>
                  <a:pt x="0" y="0"/>
                </a:moveTo>
                <a:lnTo>
                  <a:pt x="38100" y="39624"/>
                </a:lnTo>
                <a:lnTo>
                  <a:pt x="38100" y="145288"/>
                </a:lnTo>
                <a:lnTo>
                  <a:pt x="60960" y="165100"/>
                </a:lnTo>
                <a:lnTo>
                  <a:pt x="38100" y="184912"/>
                </a:lnTo>
                <a:lnTo>
                  <a:pt x="38100" y="290576"/>
                </a:lnTo>
                <a:lnTo>
                  <a:pt x="0" y="330200"/>
                </a:lnTo>
              </a:path>
            </a:pathLst>
          </a:custGeom>
          <a:noFill/>
          <a:ln w="3861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90" name="Caption 90"/>
          <p:cNvSpPr txBox="1"/>
          <p:nvPr/>
        </p:nvSpPr>
        <p:spPr>
          <a:xfrm>
            <a:off x="7191210" y="4142740"/>
            <a:ext cx="210274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brace</a:t>
            </a:r>
          </a:p>
        </p:txBody>
      </p:sp>
      <p:sp>
        <p:nvSpPr>
          <p:cNvPr id="91" name="Dot 91"/>
          <p:cNvSpPr/>
          <p:nvPr/>
        </p:nvSpPr>
        <p:spPr>
          <a:xfrm>
            <a:off x="7594125" y="4040505"/>
            <a:ext cx="26670" cy="2667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92" name="Dot 92"/>
          <p:cNvSpPr/>
          <p:nvPr/>
        </p:nvSpPr>
        <p:spPr>
          <a:xfrm>
            <a:off x="7644925" y="4040505"/>
            <a:ext cx="26670" cy="2667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93" name="Dot 93"/>
          <p:cNvSpPr/>
          <p:nvPr/>
        </p:nvSpPr>
        <p:spPr>
          <a:xfrm>
            <a:off x="7695725" y="4040505"/>
            <a:ext cx="26670" cy="2667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94" name="Caption 94"/>
          <p:cNvSpPr txBox="1"/>
          <p:nvPr/>
        </p:nvSpPr>
        <p:spPr>
          <a:xfrm>
            <a:off x="7528484" y="4142740"/>
            <a:ext cx="259552" cy="863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580" dirty="0">
                <a:solidFill>
                  <a:srgbClr val="000000"/>
                </a:solidFill>
                <a:latin typeface="Times New Roman"/>
                <a:cs typeface="Times New Roman"/>
              </a:rPr>
              <a:t>ellipsis</a:t>
            </a:r>
          </a:p>
        </p:txBody>
      </p:sp>
      <p:sp>
        <p:nvSpPr>
          <p:cNvPr id="95" name="Stage 95"/>
          <p:cNvSpPr/>
          <p:nvPr/>
        </p:nvSpPr>
        <p:spPr>
          <a:xfrm>
            <a:off x="4032250" y="4705350"/>
            <a:ext cx="3924300" cy="3472180"/>
          </a:xfrm>
          <a:prstGeom prst="roundRect">
            <a:avLst>
              <a:gd name="adj" fmla="val 950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96" name="StageTitle 96"/>
          <p:cNvSpPr txBox="1"/>
          <p:nvPr/>
        </p:nvSpPr>
        <p:spPr>
          <a:xfrm>
            <a:off x="4032250" y="4546600"/>
            <a:ext cx="4395216" cy="13335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l"/>
            <a:r>
              <a:rPr lang="en-US" sz="850" b="1" dirty="0">
                <a:solidFill>
                  <a:srgbClr val="000000"/>
                </a:solidFill>
                <a:latin typeface="Times New Roman"/>
                <a:cs typeface="Times New Roman"/>
              </a:rPr>
              <a:t>Tint ladders -- fills come from pale/light/soft, ink from strong/deep</a:t>
            </a:r>
          </a:p>
        </p:txBody>
      </p:sp>
      <p:sp>
        <p:nvSpPr>
          <p:cNvPr id="97" name="Label 97"/>
          <p:cNvSpPr txBox="1"/>
          <p:nvPr/>
        </p:nvSpPr>
        <p:spPr>
          <a:xfrm>
            <a:off x="4107942" y="4848860"/>
            <a:ext cx="483616" cy="8128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/>
                <a:cs typeface="Times New Roman"/>
              </a:rPr>
              <a:t>blue</a:t>
            </a:r>
          </a:p>
        </p:txBody>
      </p:sp>
      <p:sp>
        <p:nvSpPr>
          <p:cNvPr id="98" name="Module 98"/>
          <p:cNvSpPr/>
          <p:nvPr/>
        </p:nvSpPr>
        <p:spPr>
          <a:xfrm>
            <a:off x="4603750" y="4806950"/>
            <a:ext cx="431800" cy="165100"/>
          </a:xfrm>
          <a:prstGeom prst="rect">
            <a:avLst/>
          </a:prstGeom>
          <a:solidFill>
            <a:srgbClr val="EAF1FA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99" name="Caption 99"/>
          <p:cNvSpPr txBox="1"/>
          <p:nvPr/>
        </p:nvSpPr>
        <p:spPr>
          <a:xfrm>
            <a:off x="4577842" y="501015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#EAF1FA</a:t>
            </a:r>
          </a:p>
        </p:txBody>
      </p:sp>
      <p:sp>
        <p:nvSpPr>
          <p:cNvPr id="100" name="Module 100"/>
          <p:cNvSpPr/>
          <p:nvPr/>
        </p:nvSpPr>
        <p:spPr>
          <a:xfrm>
            <a:off x="5073650" y="4806950"/>
            <a:ext cx="431800" cy="165100"/>
          </a:xfrm>
          <a:prstGeom prst="rect">
            <a:avLst/>
          </a:prstGeom>
          <a:solidFill>
            <a:srgbClr val="DEEBF7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01" name="Caption 101"/>
          <p:cNvSpPr txBox="1"/>
          <p:nvPr/>
        </p:nvSpPr>
        <p:spPr>
          <a:xfrm>
            <a:off x="5047742" y="501015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#DEEBF7</a:t>
            </a:r>
          </a:p>
        </p:txBody>
      </p:sp>
      <p:sp>
        <p:nvSpPr>
          <p:cNvPr id="102" name="Module 102"/>
          <p:cNvSpPr/>
          <p:nvPr/>
        </p:nvSpPr>
        <p:spPr>
          <a:xfrm>
            <a:off x="5543550" y="4806950"/>
            <a:ext cx="431800" cy="165100"/>
          </a:xfrm>
          <a:prstGeom prst="rect">
            <a:avLst/>
          </a:prstGeom>
          <a:solidFill>
            <a:srgbClr val="BDD7EE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03" name="Caption 103"/>
          <p:cNvSpPr txBox="1"/>
          <p:nvPr/>
        </p:nvSpPr>
        <p:spPr>
          <a:xfrm>
            <a:off x="5517642" y="501015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#BDD7EE</a:t>
            </a:r>
          </a:p>
        </p:txBody>
      </p:sp>
      <p:sp>
        <p:nvSpPr>
          <p:cNvPr id="104" name="Module 104"/>
          <p:cNvSpPr/>
          <p:nvPr/>
        </p:nvSpPr>
        <p:spPr>
          <a:xfrm>
            <a:off x="6013450" y="4806950"/>
            <a:ext cx="431800" cy="165100"/>
          </a:xfrm>
          <a:prstGeom prst="rect">
            <a:avLst/>
          </a:prstGeom>
          <a:solidFill>
            <a:srgbClr val="9DC3E6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05" name="Caption 105"/>
          <p:cNvSpPr txBox="1"/>
          <p:nvPr/>
        </p:nvSpPr>
        <p:spPr>
          <a:xfrm>
            <a:off x="5987542" y="501015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#9DC3E6</a:t>
            </a:r>
          </a:p>
        </p:txBody>
      </p:sp>
      <p:sp>
        <p:nvSpPr>
          <p:cNvPr id="106" name="Module 106"/>
          <p:cNvSpPr/>
          <p:nvPr/>
        </p:nvSpPr>
        <p:spPr>
          <a:xfrm>
            <a:off x="6483350" y="4806950"/>
            <a:ext cx="431800" cy="165100"/>
          </a:xfrm>
          <a:prstGeom prst="rect">
            <a:avLst/>
          </a:prstGeom>
          <a:solidFill>
            <a:srgbClr val="5B9BD5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07" name="Caption 107"/>
          <p:cNvSpPr txBox="1"/>
          <p:nvPr/>
        </p:nvSpPr>
        <p:spPr>
          <a:xfrm>
            <a:off x="6457442" y="501015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#5B9BD5</a:t>
            </a:r>
          </a:p>
        </p:txBody>
      </p:sp>
      <p:sp>
        <p:nvSpPr>
          <p:cNvPr id="108" name="Module 108"/>
          <p:cNvSpPr/>
          <p:nvPr/>
        </p:nvSpPr>
        <p:spPr>
          <a:xfrm>
            <a:off x="6953250" y="4806950"/>
            <a:ext cx="431800" cy="165100"/>
          </a:xfrm>
          <a:prstGeom prst="rect">
            <a:avLst/>
          </a:prstGeom>
          <a:solidFill>
            <a:srgbClr val="2E75B6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09" name="Caption 109"/>
          <p:cNvSpPr txBox="1"/>
          <p:nvPr/>
        </p:nvSpPr>
        <p:spPr>
          <a:xfrm>
            <a:off x="6927342" y="501015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#2E75B6</a:t>
            </a:r>
          </a:p>
        </p:txBody>
      </p:sp>
      <p:sp>
        <p:nvSpPr>
          <p:cNvPr id="110" name="Module 110"/>
          <p:cNvSpPr/>
          <p:nvPr/>
        </p:nvSpPr>
        <p:spPr>
          <a:xfrm>
            <a:off x="7423150" y="4806950"/>
            <a:ext cx="431800" cy="165100"/>
          </a:xfrm>
          <a:prstGeom prst="rect">
            <a:avLst/>
          </a:prstGeom>
          <a:solidFill>
            <a:srgbClr val="1F4E79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11" name="Caption 111"/>
          <p:cNvSpPr txBox="1"/>
          <p:nvPr/>
        </p:nvSpPr>
        <p:spPr>
          <a:xfrm>
            <a:off x="7397242" y="501015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#1F4E79</a:t>
            </a:r>
          </a:p>
        </p:txBody>
      </p:sp>
      <p:sp>
        <p:nvSpPr>
          <p:cNvPr id="112" name="Label 112"/>
          <p:cNvSpPr txBox="1"/>
          <p:nvPr/>
        </p:nvSpPr>
        <p:spPr>
          <a:xfrm>
            <a:off x="4107942" y="5224780"/>
            <a:ext cx="483616" cy="8128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/>
                <a:cs typeface="Times New Roman"/>
              </a:rPr>
              <a:t>steel</a:t>
            </a:r>
          </a:p>
        </p:txBody>
      </p:sp>
      <p:sp>
        <p:nvSpPr>
          <p:cNvPr id="113" name="Module 113"/>
          <p:cNvSpPr/>
          <p:nvPr/>
        </p:nvSpPr>
        <p:spPr>
          <a:xfrm>
            <a:off x="4603750" y="5182870"/>
            <a:ext cx="431800" cy="165100"/>
          </a:xfrm>
          <a:prstGeom prst="rect">
            <a:avLst/>
          </a:prstGeom>
          <a:solidFill>
            <a:srgbClr val="E9EEF8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14" name="Caption 114"/>
          <p:cNvSpPr txBox="1"/>
          <p:nvPr/>
        </p:nvSpPr>
        <p:spPr>
          <a:xfrm>
            <a:off x="4577842" y="538607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#E9EEF8</a:t>
            </a:r>
          </a:p>
        </p:txBody>
      </p:sp>
      <p:sp>
        <p:nvSpPr>
          <p:cNvPr id="115" name="Module 115"/>
          <p:cNvSpPr/>
          <p:nvPr/>
        </p:nvSpPr>
        <p:spPr>
          <a:xfrm>
            <a:off x="5073650" y="5182870"/>
            <a:ext cx="431800" cy="165100"/>
          </a:xfrm>
          <a:prstGeom prst="rect">
            <a:avLst/>
          </a:prstGeom>
          <a:solidFill>
            <a:srgbClr val="DAE3F3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16" name="Caption 116"/>
          <p:cNvSpPr txBox="1"/>
          <p:nvPr/>
        </p:nvSpPr>
        <p:spPr>
          <a:xfrm>
            <a:off x="5047742" y="538607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#DAE3F3</a:t>
            </a:r>
          </a:p>
        </p:txBody>
      </p:sp>
      <p:sp>
        <p:nvSpPr>
          <p:cNvPr id="117" name="Module 117"/>
          <p:cNvSpPr/>
          <p:nvPr/>
        </p:nvSpPr>
        <p:spPr>
          <a:xfrm>
            <a:off x="5543550" y="5182870"/>
            <a:ext cx="431800" cy="165100"/>
          </a:xfrm>
          <a:prstGeom prst="rect">
            <a:avLst/>
          </a:prstGeom>
          <a:solidFill>
            <a:srgbClr val="B4C7E7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18" name="Caption 118"/>
          <p:cNvSpPr txBox="1"/>
          <p:nvPr/>
        </p:nvSpPr>
        <p:spPr>
          <a:xfrm>
            <a:off x="5517642" y="538607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#B4C7E7</a:t>
            </a:r>
          </a:p>
        </p:txBody>
      </p:sp>
      <p:sp>
        <p:nvSpPr>
          <p:cNvPr id="119" name="Module 119"/>
          <p:cNvSpPr/>
          <p:nvPr/>
        </p:nvSpPr>
        <p:spPr>
          <a:xfrm>
            <a:off x="6013450" y="5182870"/>
            <a:ext cx="431800" cy="165100"/>
          </a:xfrm>
          <a:prstGeom prst="rect">
            <a:avLst/>
          </a:prstGeom>
          <a:solidFill>
            <a:srgbClr val="8FAADC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20" name="Caption 120"/>
          <p:cNvSpPr txBox="1"/>
          <p:nvPr/>
        </p:nvSpPr>
        <p:spPr>
          <a:xfrm>
            <a:off x="5987542" y="538607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#8FAADC</a:t>
            </a:r>
          </a:p>
        </p:txBody>
      </p:sp>
      <p:sp>
        <p:nvSpPr>
          <p:cNvPr id="121" name="Module 121"/>
          <p:cNvSpPr/>
          <p:nvPr/>
        </p:nvSpPr>
        <p:spPr>
          <a:xfrm>
            <a:off x="6483350" y="5182870"/>
            <a:ext cx="431800" cy="165100"/>
          </a:xfrm>
          <a:prstGeom prst="rect">
            <a:avLst/>
          </a:prstGeom>
          <a:solidFill>
            <a:srgbClr val="4472C4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22" name="Caption 122"/>
          <p:cNvSpPr txBox="1"/>
          <p:nvPr/>
        </p:nvSpPr>
        <p:spPr>
          <a:xfrm>
            <a:off x="6457442" y="538607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#4472C4</a:t>
            </a:r>
          </a:p>
        </p:txBody>
      </p:sp>
      <p:sp>
        <p:nvSpPr>
          <p:cNvPr id="123" name="Module 123"/>
          <p:cNvSpPr/>
          <p:nvPr/>
        </p:nvSpPr>
        <p:spPr>
          <a:xfrm>
            <a:off x="6953250" y="5182870"/>
            <a:ext cx="431800" cy="165100"/>
          </a:xfrm>
          <a:prstGeom prst="rect">
            <a:avLst/>
          </a:prstGeom>
          <a:solidFill>
            <a:srgbClr val="2F5597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24" name="Caption 124"/>
          <p:cNvSpPr txBox="1"/>
          <p:nvPr/>
        </p:nvSpPr>
        <p:spPr>
          <a:xfrm>
            <a:off x="6927342" y="538607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#2F5597</a:t>
            </a:r>
          </a:p>
        </p:txBody>
      </p:sp>
      <p:sp>
        <p:nvSpPr>
          <p:cNvPr id="125" name="Module 125"/>
          <p:cNvSpPr/>
          <p:nvPr/>
        </p:nvSpPr>
        <p:spPr>
          <a:xfrm>
            <a:off x="7423150" y="5182870"/>
            <a:ext cx="431800" cy="165100"/>
          </a:xfrm>
          <a:prstGeom prst="rect">
            <a:avLst/>
          </a:prstGeom>
          <a:solidFill>
            <a:srgbClr val="264478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26" name="Caption 126"/>
          <p:cNvSpPr txBox="1"/>
          <p:nvPr/>
        </p:nvSpPr>
        <p:spPr>
          <a:xfrm>
            <a:off x="7397242" y="538607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#264478</a:t>
            </a:r>
          </a:p>
        </p:txBody>
      </p:sp>
      <p:sp>
        <p:nvSpPr>
          <p:cNvPr id="127" name="Label 127"/>
          <p:cNvSpPr txBox="1"/>
          <p:nvPr/>
        </p:nvSpPr>
        <p:spPr>
          <a:xfrm>
            <a:off x="4107942" y="5600700"/>
            <a:ext cx="483616" cy="8128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/>
                <a:cs typeface="Times New Roman"/>
              </a:rPr>
              <a:t>green</a:t>
            </a:r>
          </a:p>
        </p:txBody>
      </p:sp>
      <p:sp>
        <p:nvSpPr>
          <p:cNvPr id="128" name="Module 128"/>
          <p:cNvSpPr/>
          <p:nvPr/>
        </p:nvSpPr>
        <p:spPr>
          <a:xfrm>
            <a:off x="4603750" y="5558790"/>
            <a:ext cx="431800" cy="165100"/>
          </a:xfrm>
          <a:prstGeom prst="rect">
            <a:avLst/>
          </a:prstGeom>
          <a:solidFill>
            <a:srgbClr val="EFF6E9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29" name="Caption 129"/>
          <p:cNvSpPr txBox="1"/>
          <p:nvPr/>
        </p:nvSpPr>
        <p:spPr>
          <a:xfrm>
            <a:off x="4577842" y="576199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#EFF6E9</a:t>
            </a:r>
          </a:p>
        </p:txBody>
      </p:sp>
      <p:sp>
        <p:nvSpPr>
          <p:cNvPr id="130" name="Module 130"/>
          <p:cNvSpPr/>
          <p:nvPr/>
        </p:nvSpPr>
        <p:spPr>
          <a:xfrm>
            <a:off x="5073650" y="5558790"/>
            <a:ext cx="431800" cy="165100"/>
          </a:xfrm>
          <a:prstGeom prst="rect">
            <a:avLst/>
          </a:prstGeom>
          <a:solidFill>
            <a:srgbClr val="E2F0D9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31" name="Caption 131"/>
          <p:cNvSpPr txBox="1"/>
          <p:nvPr/>
        </p:nvSpPr>
        <p:spPr>
          <a:xfrm>
            <a:off x="5047742" y="576199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#E2F0D9</a:t>
            </a:r>
          </a:p>
        </p:txBody>
      </p:sp>
      <p:sp>
        <p:nvSpPr>
          <p:cNvPr id="132" name="Module 132"/>
          <p:cNvSpPr/>
          <p:nvPr/>
        </p:nvSpPr>
        <p:spPr>
          <a:xfrm>
            <a:off x="5543550" y="5558790"/>
            <a:ext cx="431800" cy="165100"/>
          </a:xfrm>
          <a:prstGeom prst="rect">
            <a:avLst/>
          </a:prstGeom>
          <a:solidFill>
            <a:srgbClr val="C5E0B4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33" name="Caption 133"/>
          <p:cNvSpPr txBox="1"/>
          <p:nvPr/>
        </p:nvSpPr>
        <p:spPr>
          <a:xfrm>
            <a:off x="5517642" y="576199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#C5E0B4</a:t>
            </a:r>
          </a:p>
        </p:txBody>
      </p:sp>
      <p:sp>
        <p:nvSpPr>
          <p:cNvPr id="134" name="Module 134"/>
          <p:cNvSpPr/>
          <p:nvPr/>
        </p:nvSpPr>
        <p:spPr>
          <a:xfrm>
            <a:off x="6013450" y="5558790"/>
            <a:ext cx="431800" cy="165100"/>
          </a:xfrm>
          <a:prstGeom prst="rect">
            <a:avLst/>
          </a:prstGeom>
          <a:solidFill>
            <a:srgbClr val="A9D18E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35" name="Caption 135"/>
          <p:cNvSpPr txBox="1"/>
          <p:nvPr/>
        </p:nvSpPr>
        <p:spPr>
          <a:xfrm>
            <a:off x="5987542" y="576199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#A9D18E</a:t>
            </a:r>
          </a:p>
        </p:txBody>
      </p:sp>
      <p:sp>
        <p:nvSpPr>
          <p:cNvPr id="136" name="Module 136"/>
          <p:cNvSpPr/>
          <p:nvPr/>
        </p:nvSpPr>
        <p:spPr>
          <a:xfrm>
            <a:off x="6483350" y="5558790"/>
            <a:ext cx="431800" cy="165100"/>
          </a:xfrm>
          <a:prstGeom prst="rect">
            <a:avLst/>
          </a:prstGeom>
          <a:solidFill>
            <a:srgbClr val="70AD47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37" name="Caption 137"/>
          <p:cNvSpPr txBox="1"/>
          <p:nvPr/>
        </p:nvSpPr>
        <p:spPr>
          <a:xfrm>
            <a:off x="6457442" y="576199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#70AD47</a:t>
            </a:r>
          </a:p>
        </p:txBody>
      </p:sp>
      <p:sp>
        <p:nvSpPr>
          <p:cNvPr id="138" name="Module 138"/>
          <p:cNvSpPr/>
          <p:nvPr/>
        </p:nvSpPr>
        <p:spPr>
          <a:xfrm>
            <a:off x="6953250" y="5558790"/>
            <a:ext cx="431800" cy="165100"/>
          </a:xfrm>
          <a:prstGeom prst="rect">
            <a:avLst/>
          </a:prstGeom>
          <a:solidFill>
            <a:srgbClr val="548235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39" name="Caption 139"/>
          <p:cNvSpPr txBox="1"/>
          <p:nvPr/>
        </p:nvSpPr>
        <p:spPr>
          <a:xfrm>
            <a:off x="6927342" y="576199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#548235</a:t>
            </a:r>
          </a:p>
        </p:txBody>
      </p:sp>
      <p:sp>
        <p:nvSpPr>
          <p:cNvPr id="140" name="Module 140"/>
          <p:cNvSpPr/>
          <p:nvPr/>
        </p:nvSpPr>
        <p:spPr>
          <a:xfrm>
            <a:off x="7423150" y="5558790"/>
            <a:ext cx="431800" cy="165100"/>
          </a:xfrm>
          <a:prstGeom prst="rect">
            <a:avLst/>
          </a:prstGeom>
          <a:solidFill>
            <a:srgbClr val="375623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41" name="Caption 141"/>
          <p:cNvSpPr txBox="1"/>
          <p:nvPr/>
        </p:nvSpPr>
        <p:spPr>
          <a:xfrm>
            <a:off x="7397242" y="576199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#375623</a:t>
            </a:r>
          </a:p>
        </p:txBody>
      </p:sp>
      <p:sp>
        <p:nvSpPr>
          <p:cNvPr id="142" name="Label 142"/>
          <p:cNvSpPr txBox="1"/>
          <p:nvPr/>
        </p:nvSpPr>
        <p:spPr>
          <a:xfrm>
            <a:off x="4107942" y="5976620"/>
            <a:ext cx="483616" cy="8128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/>
                <a:cs typeface="Times New Roman"/>
              </a:rPr>
              <a:t>gold</a:t>
            </a:r>
          </a:p>
        </p:txBody>
      </p:sp>
      <p:sp>
        <p:nvSpPr>
          <p:cNvPr id="143" name="Module 143"/>
          <p:cNvSpPr/>
          <p:nvPr/>
        </p:nvSpPr>
        <p:spPr>
          <a:xfrm>
            <a:off x="4603750" y="5934710"/>
            <a:ext cx="431800" cy="165100"/>
          </a:xfrm>
          <a:prstGeom prst="rect">
            <a:avLst/>
          </a:prstGeom>
          <a:solidFill>
            <a:srgbClr val="FFF9E6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44" name="Caption 144"/>
          <p:cNvSpPr txBox="1"/>
          <p:nvPr/>
        </p:nvSpPr>
        <p:spPr>
          <a:xfrm>
            <a:off x="4577842" y="613791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#FFF9E6</a:t>
            </a:r>
          </a:p>
        </p:txBody>
      </p:sp>
      <p:sp>
        <p:nvSpPr>
          <p:cNvPr id="145" name="Module 145"/>
          <p:cNvSpPr/>
          <p:nvPr/>
        </p:nvSpPr>
        <p:spPr>
          <a:xfrm>
            <a:off x="5073650" y="5934710"/>
            <a:ext cx="431800" cy="165100"/>
          </a:xfrm>
          <a:prstGeom prst="rect">
            <a:avLst/>
          </a:prstGeom>
          <a:solidFill>
            <a:srgbClr val="FFF2CC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46" name="Caption 146"/>
          <p:cNvSpPr txBox="1"/>
          <p:nvPr/>
        </p:nvSpPr>
        <p:spPr>
          <a:xfrm>
            <a:off x="5047742" y="613791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#FFF2CC</a:t>
            </a:r>
          </a:p>
        </p:txBody>
      </p:sp>
      <p:sp>
        <p:nvSpPr>
          <p:cNvPr id="147" name="Module 147"/>
          <p:cNvSpPr/>
          <p:nvPr/>
        </p:nvSpPr>
        <p:spPr>
          <a:xfrm>
            <a:off x="5543550" y="5934710"/>
            <a:ext cx="431800" cy="165100"/>
          </a:xfrm>
          <a:prstGeom prst="rect">
            <a:avLst/>
          </a:prstGeom>
          <a:solidFill>
            <a:srgbClr val="FFE699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48" name="Caption 148"/>
          <p:cNvSpPr txBox="1"/>
          <p:nvPr/>
        </p:nvSpPr>
        <p:spPr>
          <a:xfrm>
            <a:off x="5517642" y="613791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#FFE699</a:t>
            </a:r>
          </a:p>
        </p:txBody>
      </p:sp>
      <p:sp>
        <p:nvSpPr>
          <p:cNvPr id="149" name="Module 149"/>
          <p:cNvSpPr/>
          <p:nvPr/>
        </p:nvSpPr>
        <p:spPr>
          <a:xfrm>
            <a:off x="6013450" y="5934710"/>
            <a:ext cx="431800" cy="165100"/>
          </a:xfrm>
          <a:prstGeom prst="rect">
            <a:avLst/>
          </a:prstGeom>
          <a:solidFill>
            <a:srgbClr val="FFD966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50" name="Caption 150"/>
          <p:cNvSpPr txBox="1"/>
          <p:nvPr/>
        </p:nvSpPr>
        <p:spPr>
          <a:xfrm>
            <a:off x="5987542" y="613791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#FFD966</a:t>
            </a:r>
          </a:p>
        </p:txBody>
      </p:sp>
      <p:sp>
        <p:nvSpPr>
          <p:cNvPr id="151" name="Module 151"/>
          <p:cNvSpPr/>
          <p:nvPr/>
        </p:nvSpPr>
        <p:spPr>
          <a:xfrm>
            <a:off x="6483350" y="5934710"/>
            <a:ext cx="431800" cy="165100"/>
          </a:xfrm>
          <a:prstGeom prst="rect">
            <a:avLst/>
          </a:prstGeom>
          <a:solidFill>
            <a:srgbClr val="FFC000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52" name="Caption 152"/>
          <p:cNvSpPr txBox="1"/>
          <p:nvPr/>
        </p:nvSpPr>
        <p:spPr>
          <a:xfrm>
            <a:off x="6457442" y="613791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#FFC000</a:t>
            </a:r>
          </a:p>
        </p:txBody>
      </p:sp>
      <p:sp>
        <p:nvSpPr>
          <p:cNvPr id="153" name="Module 153"/>
          <p:cNvSpPr/>
          <p:nvPr/>
        </p:nvSpPr>
        <p:spPr>
          <a:xfrm>
            <a:off x="6953250" y="5934710"/>
            <a:ext cx="431800" cy="165100"/>
          </a:xfrm>
          <a:prstGeom prst="rect">
            <a:avLst/>
          </a:prstGeom>
          <a:solidFill>
            <a:srgbClr val="BF9000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54" name="Caption 154"/>
          <p:cNvSpPr txBox="1"/>
          <p:nvPr/>
        </p:nvSpPr>
        <p:spPr>
          <a:xfrm>
            <a:off x="6927342" y="613791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#BF9000</a:t>
            </a:r>
          </a:p>
        </p:txBody>
      </p:sp>
      <p:sp>
        <p:nvSpPr>
          <p:cNvPr id="155" name="Module 155"/>
          <p:cNvSpPr/>
          <p:nvPr/>
        </p:nvSpPr>
        <p:spPr>
          <a:xfrm>
            <a:off x="7423150" y="5934710"/>
            <a:ext cx="431800" cy="165100"/>
          </a:xfrm>
          <a:prstGeom prst="rect">
            <a:avLst/>
          </a:prstGeom>
          <a:solidFill>
            <a:srgbClr val="997300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56" name="Caption 156"/>
          <p:cNvSpPr txBox="1"/>
          <p:nvPr/>
        </p:nvSpPr>
        <p:spPr>
          <a:xfrm>
            <a:off x="7397242" y="613791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#997300</a:t>
            </a:r>
          </a:p>
        </p:txBody>
      </p:sp>
      <p:sp>
        <p:nvSpPr>
          <p:cNvPr id="157" name="Label 157"/>
          <p:cNvSpPr txBox="1"/>
          <p:nvPr/>
        </p:nvSpPr>
        <p:spPr>
          <a:xfrm>
            <a:off x="4107942" y="6352540"/>
            <a:ext cx="483616" cy="8128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/>
                <a:cs typeface="Times New Roman"/>
              </a:rPr>
              <a:t>orange</a:t>
            </a:r>
          </a:p>
        </p:txBody>
      </p:sp>
      <p:sp>
        <p:nvSpPr>
          <p:cNvPr id="158" name="Module 158"/>
          <p:cNvSpPr/>
          <p:nvPr/>
        </p:nvSpPr>
        <p:spPr>
          <a:xfrm>
            <a:off x="4603750" y="6310630"/>
            <a:ext cx="431800" cy="165100"/>
          </a:xfrm>
          <a:prstGeom prst="rect">
            <a:avLst/>
          </a:prstGeom>
          <a:solidFill>
            <a:srgbClr val="FDF2E9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59" name="Caption 159"/>
          <p:cNvSpPr txBox="1"/>
          <p:nvPr/>
        </p:nvSpPr>
        <p:spPr>
          <a:xfrm>
            <a:off x="4577842" y="651383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#FDF2E9</a:t>
            </a:r>
          </a:p>
        </p:txBody>
      </p:sp>
      <p:sp>
        <p:nvSpPr>
          <p:cNvPr id="160" name="Module 160"/>
          <p:cNvSpPr/>
          <p:nvPr/>
        </p:nvSpPr>
        <p:spPr>
          <a:xfrm>
            <a:off x="5073650" y="6310630"/>
            <a:ext cx="431800" cy="165100"/>
          </a:xfrm>
          <a:prstGeom prst="rect">
            <a:avLst/>
          </a:prstGeom>
          <a:solidFill>
            <a:srgbClr val="FBE5D6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61" name="Caption 161"/>
          <p:cNvSpPr txBox="1"/>
          <p:nvPr/>
        </p:nvSpPr>
        <p:spPr>
          <a:xfrm>
            <a:off x="5047742" y="651383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#FBE5D6</a:t>
            </a:r>
          </a:p>
        </p:txBody>
      </p:sp>
      <p:sp>
        <p:nvSpPr>
          <p:cNvPr id="162" name="Module 162"/>
          <p:cNvSpPr/>
          <p:nvPr/>
        </p:nvSpPr>
        <p:spPr>
          <a:xfrm>
            <a:off x="5543550" y="6310630"/>
            <a:ext cx="431800" cy="165100"/>
          </a:xfrm>
          <a:prstGeom prst="rect">
            <a:avLst/>
          </a:prstGeom>
          <a:solidFill>
            <a:srgbClr val="F8CBAD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63" name="Caption 163"/>
          <p:cNvSpPr txBox="1"/>
          <p:nvPr/>
        </p:nvSpPr>
        <p:spPr>
          <a:xfrm>
            <a:off x="5517642" y="651383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#F8CBAD</a:t>
            </a:r>
          </a:p>
        </p:txBody>
      </p:sp>
      <p:sp>
        <p:nvSpPr>
          <p:cNvPr id="164" name="Module 164"/>
          <p:cNvSpPr/>
          <p:nvPr/>
        </p:nvSpPr>
        <p:spPr>
          <a:xfrm>
            <a:off x="6013450" y="6310630"/>
            <a:ext cx="431800" cy="165100"/>
          </a:xfrm>
          <a:prstGeom prst="rect">
            <a:avLst/>
          </a:prstGeom>
          <a:solidFill>
            <a:srgbClr val="F4B183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65" name="Caption 165"/>
          <p:cNvSpPr txBox="1"/>
          <p:nvPr/>
        </p:nvSpPr>
        <p:spPr>
          <a:xfrm>
            <a:off x="5987542" y="651383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#F4B183</a:t>
            </a:r>
          </a:p>
        </p:txBody>
      </p:sp>
      <p:sp>
        <p:nvSpPr>
          <p:cNvPr id="166" name="Module 166"/>
          <p:cNvSpPr/>
          <p:nvPr/>
        </p:nvSpPr>
        <p:spPr>
          <a:xfrm>
            <a:off x="6483350" y="6310630"/>
            <a:ext cx="431800" cy="165100"/>
          </a:xfrm>
          <a:prstGeom prst="rect">
            <a:avLst/>
          </a:prstGeom>
          <a:solidFill>
            <a:srgbClr val="ED7D31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67" name="Caption 167"/>
          <p:cNvSpPr txBox="1"/>
          <p:nvPr/>
        </p:nvSpPr>
        <p:spPr>
          <a:xfrm>
            <a:off x="6457442" y="651383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#ED7D31</a:t>
            </a:r>
          </a:p>
        </p:txBody>
      </p:sp>
      <p:sp>
        <p:nvSpPr>
          <p:cNvPr id="168" name="Module 168"/>
          <p:cNvSpPr/>
          <p:nvPr/>
        </p:nvSpPr>
        <p:spPr>
          <a:xfrm>
            <a:off x="6953250" y="6310630"/>
            <a:ext cx="431800" cy="165100"/>
          </a:xfrm>
          <a:prstGeom prst="rect">
            <a:avLst/>
          </a:prstGeom>
          <a:solidFill>
            <a:srgbClr val="C55A11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69" name="Caption 169"/>
          <p:cNvSpPr txBox="1"/>
          <p:nvPr/>
        </p:nvSpPr>
        <p:spPr>
          <a:xfrm>
            <a:off x="6927342" y="651383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#C55A11</a:t>
            </a:r>
          </a:p>
        </p:txBody>
      </p:sp>
      <p:sp>
        <p:nvSpPr>
          <p:cNvPr id="170" name="Module 170"/>
          <p:cNvSpPr/>
          <p:nvPr/>
        </p:nvSpPr>
        <p:spPr>
          <a:xfrm>
            <a:off x="7423150" y="6310630"/>
            <a:ext cx="431800" cy="165100"/>
          </a:xfrm>
          <a:prstGeom prst="rect">
            <a:avLst/>
          </a:prstGeom>
          <a:solidFill>
            <a:srgbClr val="843C0C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71" name="Caption 171"/>
          <p:cNvSpPr txBox="1"/>
          <p:nvPr/>
        </p:nvSpPr>
        <p:spPr>
          <a:xfrm>
            <a:off x="7397242" y="651383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#843C0C</a:t>
            </a:r>
          </a:p>
        </p:txBody>
      </p:sp>
      <p:sp>
        <p:nvSpPr>
          <p:cNvPr id="172" name="Label 172"/>
          <p:cNvSpPr txBox="1"/>
          <p:nvPr/>
        </p:nvSpPr>
        <p:spPr>
          <a:xfrm>
            <a:off x="4107942" y="6728460"/>
            <a:ext cx="483616" cy="8128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/>
                <a:cs typeface="Times New Roman"/>
              </a:rPr>
              <a:t>purple</a:t>
            </a:r>
          </a:p>
        </p:txBody>
      </p:sp>
      <p:sp>
        <p:nvSpPr>
          <p:cNvPr id="173" name="Module 173"/>
          <p:cNvSpPr/>
          <p:nvPr/>
        </p:nvSpPr>
        <p:spPr>
          <a:xfrm>
            <a:off x="4603750" y="6686550"/>
            <a:ext cx="431800" cy="165100"/>
          </a:xfrm>
          <a:prstGeom prst="rect">
            <a:avLst/>
          </a:prstGeom>
          <a:solidFill>
            <a:srgbClr val="F2EDF6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74" name="Caption 174"/>
          <p:cNvSpPr txBox="1"/>
          <p:nvPr/>
        </p:nvSpPr>
        <p:spPr>
          <a:xfrm>
            <a:off x="4577842" y="688975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#F2EDF6</a:t>
            </a:r>
          </a:p>
        </p:txBody>
      </p:sp>
      <p:sp>
        <p:nvSpPr>
          <p:cNvPr id="175" name="Module 175"/>
          <p:cNvSpPr/>
          <p:nvPr/>
        </p:nvSpPr>
        <p:spPr>
          <a:xfrm>
            <a:off x="5073650" y="6686550"/>
            <a:ext cx="431800" cy="165100"/>
          </a:xfrm>
          <a:prstGeom prst="rect">
            <a:avLst/>
          </a:prstGeom>
          <a:solidFill>
            <a:srgbClr val="E5DAEE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76" name="Caption 176"/>
          <p:cNvSpPr txBox="1"/>
          <p:nvPr/>
        </p:nvSpPr>
        <p:spPr>
          <a:xfrm>
            <a:off x="5047742" y="688975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#E5DAEE</a:t>
            </a:r>
          </a:p>
        </p:txBody>
      </p:sp>
      <p:sp>
        <p:nvSpPr>
          <p:cNvPr id="177" name="Module 177"/>
          <p:cNvSpPr/>
          <p:nvPr/>
        </p:nvSpPr>
        <p:spPr>
          <a:xfrm>
            <a:off x="5543550" y="6686550"/>
            <a:ext cx="431800" cy="165100"/>
          </a:xfrm>
          <a:prstGeom prst="rect">
            <a:avLst/>
          </a:prstGeom>
          <a:solidFill>
            <a:srgbClr val="CBB4DD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78" name="Caption 178"/>
          <p:cNvSpPr txBox="1"/>
          <p:nvPr/>
        </p:nvSpPr>
        <p:spPr>
          <a:xfrm>
            <a:off x="5517642" y="688975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#CBB4DD</a:t>
            </a:r>
          </a:p>
        </p:txBody>
      </p:sp>
      <p:sp>
        <p:nvSpPr>
          <p:cNvPr id="179" name="Module 179"/>
          <p:cNvSpPr/>
          <p:nvPr/>
        </p:nvSpPr>
        <p:spPr>
          <a:xfrm>
            <a:off x="6013450" y="6686550"/>
            <a:ext cx="431800" cy="165100"/>
          </a:xfrm>
          <a:prstGeom prst="rect">
            <a:avLst/>
          </a:prstGeom>
          <a:solidFill>
            <a:srgbClr val="B18FCC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80" name="Caption 180"/>
          <p:cNvSpPr txBox="1"/>
          <p:nvPr/>
        </p:nvSpPr>
        <p:spPr>
          <a:xfrm>
            <a:off x="5987542" y="688975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#B18FCC</a:t>
            </a:r>
          </a:p>
        </p:txBody>
      </p:sp>
      <p:sp>
        <p:nvSpPr>
          <p:cNvPr id="181" name="Module 181"/>
          <p:cNvSpPr/>
          <p:nvPr/>
        </p:nvSpPr>
        <p:spPr>
          <a:xfrm>
            <a:off x="6483350" y="6686550"/>
            <a:ext cx="431800" cy="165100"/>
          </a:xfrm>
          <a:prstGeom prst="rect">
            <a:avLst/>
          </a:prstGeom>
          <a:solidFill>
            <a:srgbClr val="7030A0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82" name="Caption 182"/>
          <p:cNvSpPr txBox="1"/>
          <p:nvPr/>
        </p:nvSpPr>
        <p:spPr>
          <a:xfrm>
            <a:off x="6457442" y="688975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#7030A0</a:t>
            </a:r>
          </a:p>
        </p:txBody>
      </p:sp>
      <p:sp>
        <p:nvSpPr>
          <p:cNvPr id="183" name="Module 183"/>
          <p:cNvSpPr/>
          <p:nvPr/>
        </p:nvSpPr>
        <p:spPr>
          <a:xfrm>
            <a:off x="6953250" y="6686550"/>
            <a:ext cx="431800" cy="165100"/>
          </a:xfrm>
          <a:prstGeom prst="rect">
            <a:avLst/>
          </a:prstGeom>
          <a:solidFill>
            <a:srgbClr val="5A2680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84" name="Caption 184"/>
          <p:cNvSpPr txBox="1"/>
          <p:nvPr/>
        </p:nvSpPr>
        <p:spPr>
          <a:xfrm>
            <a:off x="6927342" y="688975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#5A2680</a:t>
            </a:r>
          </a:p>
        </p:txBody>
      </p:sp>
      <p:sp>
        <p:nvSpPr>
          <p:cNvPr id="185" name="Module 185"/>
          <p:cNvSpPr/>
          <p:nvPr/>
        </p:nvSpPr>
        <p:spPr>
          <a:xfrm>
            <a:off x="7423150" y="6686550"/>
            <a:ext cx="431800" cy="165100"/>
          </a:xfrm>
          <a:prstGeom prst="rect">
            <a:avLst/>
          </a:prstGeom>
          <a:solidFill>
            <a:srgbClr val="431C60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86" name="Caption 186"/>
          <p:cNvSpPr txBox="1"/>
          <p:nvPr/>
        </p:nvSpPr>
        <p:spPr>
          <a:xfrm>
            <a:off x="7397242" y="688975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#431C60</a:t>
            </a:r>
          </a:p>
        </p:txBody>
      </p:sp>
      <p:sp>
        <p:nvSpPr>
          <p:cNvPr id="187" name="Label 187"/>
          <p:cNvSpPr txBox="1"/>
          <p:nvPr/>
        </p:nvSpPr>
        <p:spPr>
          <a:xfrm>
            <a:off x="4107942" y="7104380"/>
            <a:ext cx="483616" cy="8128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/>
                <a:cs typeface="Times New Roman"/>
              </a:rPr>
              <a:t>rose</a:t>
            </a:r>
          </a:p>
        </p:txBody>
      </p:sp>
      <p:sp>
        <p:nvSpPr>
          <p:cNvPr id="188" name="Module 188"/>
          <p:cNvSpPr/>
          <p:nvPr/>
        </p:nvSpPr>
        <p:spPr>
          <a:xfrm>
            <a:off x="4603750" y="7062470"/>
            <a:ext cx="431800" cy="165100"/>
          </a:xfrm>
          <a:prstGeom prst="rect">
            <a:avLst/>
          </a:prstGeom>
          <a:solidFill>
            <a:srgbClr val="FCEAEA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89" name="Caption 189"/>
          <p:cNvSpPr txBox="1"/>
          <p:nvPr/>
        </p:nvSpPr>
        <p:spPr>
          <a:xfrm>
            <a:off x="4577842" y="726567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#FCEAEA</a:t>
            </a:r>
          </a:p>
        </p:txBody>
      </p:sp>
      <p:sp>
        <p:nvSpPr>
          <p:cNvPr id="190" name="Module 190"/>
          <p:cNvSpPr/>
          <p:nvPr/>
        </p:nvSpPr>
        <p:spPr>
          <a:xfrm>
            <a:off x="5073650" y="7062470"/>
            <a:ext cx="431800" cy="165100"/>
          </a:xfrm>
          <a:prstGeom prst="rect">
            <a:avLst/>
          </a:prstGeom>
          <a:solidFill>
            <a:srgbClr val="F8D7D7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91" name="Caption 191"/>
          <p:cNvSpPr txBox="1"/>
          <p:nvPr/>
        </p:nvSpPr>
        <p:spPr>
          <a:xfrm>
            <a:off x="5047742" y="726567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#F8D7D7</a:t>
            </a:r>
          </a:p>
        </p:txBody>
      </p:sp>
      <p:sp>
        <p:nvSpPr>
          <p:cNvPr id="192" name="Module 192"/>
          <p:cNvSpPr/>
          <p:nvPr/>
        </p:nvSpPr>
        <p:spPr>
          <a:xfrm>
            <a:off x="5543550" y="7062470"/>
            <a:ext cx="431800" cy="165100"/>
          </a:xfrm>
          <a:prstGeom prst="rect">
            <a:avLst/>
          </a:prstGeom>
          <a:solidFill>
            <a:srgbClr val="F2C2C2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93" name="Caption 193"/>
          <p:cNvSpPr txBox="1"/>
          <p:nvPr/>
        </p:nvSpPr>
        <p:spPr>
          <a:xfrm>
            <a:off x="5517642" y="726567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#F2C2C2</a:t>
            </a:r>
          </a:p>
        </p:txBody>
      </p:sp>
      <p:sp>
        <p:nvSpPr>
          <p:cNvPr id="194" name="Module 194"/>
          <p:cNvSpPr/>
          <p:nvPr/>
        </p:nvSpPr>
        <p:spPr>
          <a:xfrm>
            <a:off x="6013450" y="7062470"/>
            <a:ext cx="431800" cy="165100"/>
          </a:xfrm>
          <a:prstGeom prst="rect">
            <a:avLst/>
          </a:prstGeom>
          <a:solidFill>
            <a:srgbClr val="E39B9B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95" name="Caption 195"/>
          <p:cNvSpPr txBox="1"/>
          <p:nvPr/>
        </p:nvSpPr>
        <p:spPr>
          <a:xfrm>
            <a:off x="5987542" y="726567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#E39B9B</a:t>
            </a:r>
          </a:p>
        </p:txBody>
      </p:sp>
      <p:sp>
        <p:nvSpPr>
          <p:cNvPr id="196" name="Module 196"/>
          <p:cNvSpPr/>
          <p:nvPr/>
        </p:nvSpPr>
        <p:spPr>
          <a:xfrm>
            <a:off x="6483350" y="7062470"/>
            <a:ext cx="431800" cy="165100"/>
          </a:xfrm>
          <a:prstGeom prst="rect">
            <a:avLst/>
          </a:prstGeom>
          <a:solidFill>
            <a:srgbClr val="C00000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97" name="Caption 197"/>
          <p:cNvSpPr txBox="1"/>
          <p:nvPr/>
        </p:nvSpPr>
        <p:spPr>
          <a:xfrm>
            <a:off x="6457442" y="726567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#C00000</a:t>
            </a:r>
          </a:p>
        </p:txBody>
      </p:sp>
      <p:sp>
        <p:nvSpPr>
          <p:cNvPr id="198" name="Module 198"/>
          <p:cNvSpPr/>
          <p:nvPr/>
        </p:nvSpPr>
        <p:spPr>
          <a:xfrm>
            <a:off x="6953250" y="7062470"/>
            <a:ext cx="431800" cy="165100"/>
          </a:xfrm>
          <a:prstGeom prst="rect">
            <a:avLst/>
          </a:prstGeom>
          <a:solidFill>
            <a:srgbClr val="A00000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99" name="Caption 199"/>
          <p:cNvSpPr txBox="1"/>
          <p:nvPr/>
        </p:nvSpPr>
        <p:spPr>
          <a:xfrm>
            <a:off x="6927342" y="726567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#A00000</a:t>
            </a:r>
          </a:p>
        </p:txBody>
      </p:sp>
      <p:sp>
        <p:nvSpPr>
          <p:cNvPr id="200" name="Module 200"/>
          <p:cNvSpPr/>
          <p:nvPr/>
        </p:nvSpPr>
        <p:spPr>
          <a:xfrm>
            <a:off x="7423150" y="7062470"/>
            <a:ext cx="431800" cy="165100"/>
          </a:xfrm>
          <a:prstGeom prst="rect">
            <a:avLst/>
          </a:prstGeom>
          <a:solidFill>
            <a:srgbClr val="700000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01" name="Caption 201"/>
          <p:cNvSpPr txBox="1"/>
          <p:nvPr/>
        </p:nvSpPr>
        <p:spPr>
          <a:xfrm>
            <a:off x="7397242" y="726567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#700000</a:t>
            </a:r>
          </a:p>
        </p:txBody>
      </p:sp>
      <p:sp>
        <p:nvSpPr>
          <p:cNvPr id="202" name="Label 202"/>
          <p:cNvSpPr txBox="1"/>
          <p:nvPr/>
        </p:nvSpPr>
        <p:spPr>
          <a:xfrm>
            <a:off x="4107942" y="7480300"/>
            <a:ext cx="483616" cy="8128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/>
                <a:cs typeface="Times New Roman"/>
              </a:rPr>
              <a:t>teal</a:t>
            </a:r>
          </a:p>
        </p:txBody>
      </p:sp>
      <p:sp>
        <p:nvSpPr>
          <p:cNvPr id="203" name="Module 203"/>
          <p:cNvSpPr/>
          <p:nvPr/>
        </p:nvSpPr>
        <p:spPr>
          <a:xfrm>
            <a:off x="4603750" y="7438390"/>
            <a:ext cx="431800" cy="165100"/>
          </a:xfrm>
          <a:prstGeom prst="rect">
            <a:avLst/>
          </a:prstGeom>
          <a:solidFill>
            <a:srgbClr val="E6F6FC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04" name="Caption 204"/>
          <p:cNvSpPr txBox="1"/>
          <p:nvPr/>
        </p:nvSpPr>
        <p:spPr>
          <a:xfrm>
            <a:off x="4577842" y="764159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#E6F6FC</a:t>
            </a:r>
          </a:p>
        </p:txBody>
      </p:sp>
      <p:sp>
        <p:nvSpPr>
          <p:cNvPr id="205" name="Module 205"/>
          <p:cNvSpPr/>
          <p:nvPr/>
        </p:nvSpPr>
        <p:spPr>
          <a:xfrm>
            <a:off x="5073650" y="7438390"/>
            <a:ext cx="431800" cy="165100"/>
          </a:xfrm>
          <a:prstGeom prst="rect">
            <a:avLst/>
          </a:prstGeom>
          <a:solidFill>
            <a:srgbClr val="CDEDFA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06" name="Caption 206"/>
          <p:cNvSpPr txBox="1"/>
          <p:nvPr/>
        </p:nvSpPr>
        <p:spPr>
          <a:xfrm>
            <a:off x="5047742" y="764159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#CDEDFA</a:t>
            </a:r>
          </a:p>
        </p:txBody>
      </p:sp>
      <p:sp>
        <p:nvSpPr>
          <p:cNvPr id="207" name="Module 207"/>
          <p:cNvSpPr/>
          <p:nvPr/>
        </p:nvSpPr>
        <p:spPr>
          <a:xfrm>
            <a:off x="5543550" y="7438390"/>
            <a:ext cx="431800" cy="165100"/>
          </a:xfrm>
          <a:prstGeom prst="rect">
            <a:avLst/>
          </a:prstGeom>
          <a:solidFill>
            <a:srgbClr val="9BDBF5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08" name="Caption 208"/>
          <p:cNvSpPr txBox="1"/>
          <p:nvPr/>
        </p:nvSpPr>
        <p:spPr>
          <a:xfrm>
            <a:off x="5517642" y="764159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#9BDBF5</a:t>
            </a:r>
          </a:p>
        </p:txBody>
      </p:sp>
      <p:sp>
        <p:nvSpPr>
          <p:cNvPr id="209" name="Module 209"/>
          <p:cNvSpPr/>
          <p:nvPr/>
        </p:nvSpPr>
        <p:spPr>
          <a:xfrm>
            <a:off x="6013450" y="7438390"/>
            <a:ext cx="431800" cy="165100"/>
          </a:xfrm>
          <a:prstGeom prst="rect">
            <a:avLst/>
          </a:prstGeom>
          <a:solidFill>
            <a:srgbClr val="68C9F0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10" name="Caption 210"/>
          <p:cNvSpPr txBox="1"/>
          <p:nvPr/>
        </p:nvSpPr>
        <p:spPr>
          <a:xfrm>
            <a:off x="5987542" y="764159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#68C9F0</a:t>
            </a:r>
          </a:p>
        </p:txBody>
      </p:sp>
      <p:sp>
        <p:nvSpPr>
          <p:cNvPr id="211" name="Module 211"/>
          <p:cNvSpPr/>
          <p:nvPr/>
        </p:nvSpPr>
        <p:spPr>
          <a:xfrm>
            <a:off x="6483350" y="7438390"/>
            <a:ext cx="431800" cy="165100"/>
          </a:xfrm>
          <a:prstGeom prst="rect">
            <a:avLst/>
          </a:prstGeom>
          <a:solidFill>
            <a:srgbClr val="00B0F0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12" name="Caption 212"/>
          <p:cNvSpPr txBox="1"/>
          <p:nvPr/>
        </p:nvSpPr>
        <p:spPr>
          <a:xfrm>
            <a:off x="6457442" y="764159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#00B0F0</a:t>
            </a:r>
          </a:p>
        </p:txBody>
      </p:sp>
      <p:sp>
        <p:nvSpPr>
          <p:cNvPr id="213" name="Module 213"/>
          <p:cNvSpPr/>
          <p:nvPr/>
        </p:nvSpPr>
        <p:spPr>
          <a:xfrm>
            <a:off x="6953250" y="7438390"/>
            <a:ext cx="431800" cy="165100"/>
          </a:xfrm>
          <a:prstGeom prst="rect">
            <a:avLst/>
          </a:prstGeom>
          <a:solidFill>
            <a:srgbClr val="10739E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14" name="Caption 214"/>
          <p:cNvSpPr txBox="1"/>
          <p:nvPr/>
        </p:nvSpPr>
        <p:spPr>
          <a:xfrm>
            <a:off x="6927342" y="764159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#10739E</a:t>
            </a:r>
          </a:p>
        </p:txBody>
      </p:sp>
      <p:sp>
        <p:nvSpPr>
          <p:cNvPr id="215" name="Module 215"/>
          <p:cNvSpPr/>
          <p:nvPr/>
        </p:nvSpPr>
        <p:spPr>
          <a:xfrm>
            <a:off x="7423150" y="7438390"/>
            <a:ext cx="431800" cy="165100"/>
          </a:xfrm>
          <a:prstGeom prst="rect">
            <a:avLst/>
          </a:prstGeom>
          <a:solidFill>
            <a:srgbClr val="0E5573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16" name="Caption 216"/>
          <p:cNvSpPr txBox="1"/>
          <p:nvPr/>
        </p:nvSpPr>
        <p:spPr>
          <a:xfrm>
            <a:off x="7397242" y="764159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#0E5573</a:t>
            </a:r>
          </a:p>
        </p:txBody>
      </p:sp>
      <p:sp>
        <p:nvSpPr>
          <p:cNvPr id="217" name="Label 217"/>
          <p:cNvSpPr txBox="1"/>
          <p:nvPr/>
        </p:nvSpPr>
        <p:spPr>
          <a:xfrm>
            <a:off x="4107942" y="7856220"/>
            <a:ext cx="483616" cy="8128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/>
                <a:cs typeface="Times New Roman"/>
              </a:rPr>
              <a:t>grey</a:t>
            </a:r>
          </a:p>
        </p:txBody>
      </p:sp>
      <p:sp>
        <p:nvSpPr>
          <p:cNvPr id="218" name="Module 218"/>
          <p:cNvSpPr/>
          <p:nvPr/>
        </p:nvSpPr>
        <p:spPr>
          <a:xfrm>
            <a:off x="4603750" y="7814310"/>
            <a:ext cx="431800" cy="165100"/>
          </a:xfrm>
          <a:prstGeom prst="rect">
            <a:avLst/>
          </a:prstGeom>
          <a:solidFill>
            <a:srgbClr val="F2F2F2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19" name="Caption 219"/>
          <p:cNvSpPr txBox="1"/>
          <p:nvPr/>
        </p:nvSpPr>
        <p:spPr>
          <a:xfrm>
            <a:off x="4577842" y="801751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#F2F2F2</a:t>
            </a:r>
          </a:p>
        </p:txBody>
      </p:sp>
      <p:sp>
        <p:nvSpPr>
          <p:cNvPr id="220" name="Module 220"/>
          <p:cNvSpPr/>
          <p:nvPr/>
        </p:nvSpPr>
        <p:spPr>
          <a:xfrm>
            <a:off x="5073650" y="7814310"/>
            <a:ext cx="431800" cy="165100"/>
          </a:xfrm>
          <a:prstGeom prst="rect">
            <a:avLst/>
          </a:prstGeom>
          <a:solidFill>
            <a:srgbClr val="E7E6E6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21" name="Caption 221"/>
          <p:cNvSpPr txBox="1"/>
          <p:nvPr/>
        </p:nvSpPr>
        <p:spPr>
          <a:xfrm>
            <a:off x="5047742" y="801751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#E7E6E6</a:t>
            </a:r>
          </a:p>
        </p:txBody>
      </p:sp>
      <p:sp>
        <p:nvSpPr>
          <p:cNvPr id="222" name="Module 222"/>
          <p:cNvSpPr/>
          <p:nvPr/>
        </p:nvSpPr>
        <p:spPr>
          <a:xfrm>
            <a:off x="5543550" y="7814310"/>
            <a:ext cx="431800" cy="165100"/>
          </a:xfrm>
          <a:prstGeom prst="rect">
            <a:avLst/>
          </a:prstGeom>
          <a:solidFill>
            <a:srgbClr val="D9D9D9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23" name="Caption 223"/>
          <p:cNvSpPr txBox="1"/>
          <p:nvPr/>
        </p:nvSpPr>
        <p:spPr>
          <a:xfrm>
            <a:off x="5517642" y="801751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#D9D9D9</a:t>
            </a:r>
          </a:p>
        </p:txBody>
      </p:sp>
      <p:sp>
        <p:nvSpPr>
          <p:cNvPr id="224" name="Module 224"/>
          <p:cNvSpPr/>
          <p:nvPr/>
        </p:nvSpPr>
        <p:spPr>
          <a:xfrm>
            <a:off x="6013450" y="7814310"/>
            <a:ext cx="431800" cy="165100"/>
          </a:xfrm>
          <a:prstGeom prst="rect">
            <a:avLst/>
          </a:prstGeom>
          <a:solidFill>
            <a:srgbClr val="BFBFBF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25" name="Caption 225"/>
          <p:cNvSpPr txBox="1"/>
          <p:nvPr/>
        </p:nvSpPr>
        <p:spPr>
          <a:xfrm>
            <a:off x="5987542" y="801751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#BFBFBF</a:t>
            </a:r>
          </a:p>
        </p:txBody>
      </p:sp>
      <p:sp>
        <p:nvSpPr>
          <p:cNvPr id="226" name="Module 226"/>
          <p:cNvSpPr/>
          <p:nvPr/>
        </p:nvSpPr>
        <p:spPr>
          <a:xfrm>
            <a:off x="6483350" y="7814310"/>
            <a:ext cx="431800" cy="165100"/>
          </a:xfrm>
          <a:prstGeom prst="rect">
            <a:avLst/>
          </a:prstGeom>
          <a:solidFill>
            <a:srgbClr val="A6A6A6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27" name="Caption 227"/>
          <p:cNvSpPr txBox="1"/>
          <p:nvPr/>
        </p:nvSpPr>
        <p:spPr>
          <a:xfrm>
            <a:off x="6457442" y="801751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#A6A6A6</a:t>
            </a:r>
          </a:p>
        </p:txBody>
      </p:sp>
      <p:sp>
        <p:nvSpPr>
          <p:cNvPr id="228" name="Module 228"/>
          <p:cNvSpPr/>
          <p:nvPr/>
        </p:nvSpPr>
        <p:spPr>
          <a:xfrm>
            <a:off x="6953250" y="7814310"/>
            <a:ext cx="431800" cy="165100"/>
          </a:xfrm>
          <a:prstGeom prst="rect">
            <a:avLst/>
          </a:prstGeom>
          <a:solidFill>
            <a:srgbClr val="7F7F7F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29" name="Caption 229"/>
          <p:cNvSpPr txBox="1"/>
          <p:nvPr/>
        </p:nvSpPr>
        <p:spPr>
          <a:xfrm>
            <a:off x="6927342" y="801751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#7F7F7F</a:t>
            </a:r>
          </a:p>
        </p:txBody>
      </p:sp>
      <p:sp>
        <p:nvSpPr>
          <p:cNvPr id="230" name="Module 230"/>
          <p:cNvSpPr/>
          <p:nvPr/>
        </p:nvSpPr>
        <p:spPr>
          <a:xfrm>
            <a:off x="7423150" y="7814310"/>
            <a:ext cx="431800" cy="165100"/>
          </a:xfrm>
          <a:prstGeom prst="rect">
            <a:avLst/>
          </a:prstGeom>
          <a:solidFill>
            <a:srgbClr val="595959"/>
          </a:solidFill>
          <a:ln w="2413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31" name="Caption 231"/>
          <p:cNvSpPr txBox="1"/>
          <p:nvPr/>
        </p:nvSpPr>
        <p:spPr>
          <a:xfrm>
            <a:off x="7397242" y="8017510"/>
            <a:ext cx="483616" cy="7112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460" dirty="0">
                <a:solidFill>
                  <a:srgbClr val="000000"/>
                </a:solidFill>
                <a:latin typeface="Times New Roman"/>
                <a:cs typeface="Times New Roman"/>
              </a:rPr>
              <a:t>#595959</a:t>
            </a:r>
          </a:p>
        </p:txBody>
      </p:sp>
      <p:sp>
        <p:nvSpPr>
          <p:cNvPr id="232" name="Stage 232"/>
          <p:cNvSpPr/>
          <p:nvPr/>
        </p:nvSpPr>
        <p:spPr>
          <a:xfrm>
            <a:off x="101600" y="8564880"/>
            <a:ext cx="11785600" cy="330200"/>
          </a:xfrm>
          <a:prstGeom prst="roundRect">
            <a:avLst>
              <a:gd name="adj" fmla="val 10000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33" name="StageTitle 233"/>
          <p:cNvSpPr txBox="1"/>
          <p:nvPr/>
        </p:nvSpPr>
        <p:spPr>
          <a:xfrm>
            <a:off x="101600" y="8406130"/>
            <a:ext cx="13199872" cy="13335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l"/>
            <a:r>
              <a:rPr lang="en-US" sz="850" b="1" dirty="0">
                <a:solidFill>
                  <a:srgbClr val="000000"/>
                </a:solidFill>
                <a:latin typeface="Times New Roman"/>
                <a:cs typeface="Times New Roman"/>
              </a:rPr>
              <a:t>Line weights</a:t>
            </a:r>
          </a:p>
        </p:txBody>
      </p:sp>
      <p:sp>
        <p:nvSpPr>
          <p:cNvPr id="234" name="Label 234"/>
          <p:cNvSpPr txBox="1"/>
          <p:nvPr/>
        </p:nvSpPr>
        <p:spPr>
          <a:xfrm>
            <a:off x="524764" y="8691880"/>
            <a:ext cx="1109472" cy="7620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00" dirty="0">
                <a:solidFill>
                  <a:srgbClr val="000000"/>
                </a:solidFill>
                <a:latin typeface="Times New Roman"/>
                <a:cs typeface="Times New Roman"/>
              </a:rPr>
              <a:t>hairline (0.19 pt)</a:t>
            </a:r>
          </a:p>
        </p:txBody>
      </p:sp>
      <p:sp>
        <p:nvSpPr>
          <p:cNvPr id="235" name="Label 235"/>
          <p:cNvSpPr txBox="1"/>
          <p:nvPr/>
        </p:nvSpPr>
        <p:spPr>
          <a:xfrm>
            <a:off x="2226564" y="8691880"/>
            <a:ext cx="1109472" cy="7620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00" dirty="0">
                <a:solidFill>
                  <a:srgbClr val="000000"/>
                </a:solidFill>
                <a:latin typeface="Times New Roman"/>
                <a:cs typeface="Times New Roman"/>
              </a:rPr>
              <a:t>thin (0.28 pt)</a:t>
            </a:r>
          </a:p>
        </p:txBody>
      </p:sp>
      <p:sp>
        <p:nvSpPr>
          <p:cNvPr id="236" name="Label 236"/>
          <p:cNvSpPr txBox="1"/>
          <p:nvPr/>
        </p:nvSpPr>
        <p:spPr>
          <a:xfrm>
            <a:off x="3928364" y="8691880"/>
            <a:ext cx="1109472" cy="7620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00" dirty="0">
                <a:solidFill>
                  <a:srgbClr val="000000"/>
                </a:solidFill>
                <a:latin typeface="Times New Roman"/>
                <a:cs typeface="Times New Roman"/>
              </a:rPr>
              <a:t>box (0.36 pt)</a:t>
            </a:r>
          </a:p>
        </p:txBody>
      </p:sp>
      <p:sp>
        <p:nvSpPr>
          <p:cNvPr id="237" name="Label 237"/>
          <p:cNvSpPr txBox="1"/>
          <p:nvPr/>
        </p:nvSpPr>
        <p:spPr>
          <a:xfrm>
            <a:off x="5630164" y="8691880"/>
            <a:ext cx="1109472" cy="7620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00" dirty="0">
                <a:solidFill>
                  <a:srgbClr val="000000"/>
                </a:solidFill>
                <a:latin typeface="Times New Roman"/>
                <a:cs typeface="Times New Roman"/>
              </a:rPr>
              <a:t>frame (0.36 pt)</a:t>
            </a:r>
          </a:p>
        </p:txBody>
      </p:sp>
      <p:sp>
        <p:nvSpPr>
          <p:cNvPr id="238" name="Label 238"/>
          <p:cNvSpPr txBox="1"/>
          <p:nvPr/>
        </p:nvSpPr>
        <p:spPr>
          <a:xfrm>
            <a:off x="7331964" y="8691880"/>
            <a:ext cx="1109472" cy="7620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00" dirty="0">
                <a:solidFill>
                  <a:srgbClr val="000000"/>
                </a:solidFill>
                <a:latin typeface="Times New Roman"/>
                <a:cs typeface="Times New Roman"/>
              </a:rPr>
              <a:t>flow (0.60 pt)</a:t>
            </a:r>
          </a:p>
        </p:txBody>
      </p:sp>
      <p:sp>
        <p:nvSpPr>
          <p:cNvPr id="239" name="Label 239"/>
          <p:cNvSpPr txBox="1"/>
          <p:nvPr/>
        </p:nvSpPr>
        <p:spPr>
          <a:xfrm>
            <a:off x="9033764" y="8691880"/>
            <a:ext cx="1109472" cy="7620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00" dirty="0">
                <a:solidFill>
                  <a:srgbClr val="000000"/>
                </a:solidFill>
                <a:latin typeface="Times New Roman"/>
                <a:cs typeface="Times New Roman"/>
              </a:rPr>
              <a:t>emphasis (0.80 pt)</a:t>
            </a:r>
          </a:p>
        </p:txBody>
      </p:sp>
      <p:sp>
        <p:nvSpPr>
          <p:cNvPr id="240" name="Label 240"/>
          <p:cNvSpPr txBox="1"/>
          <p:nvPr/>
        </p:nvSpPr>
        <p:spPr>
          <a:xfrm>
            <a:off x="10735564" y="8691880"/>
            <a:ext cx="1109472" cy="7620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00" dirty="0">
                <a:solidFill>
                  <a:srgbClr val="000000"/>
                </a:solidFill>
                <a:latin typeface="Times New Roman"/>
                <a:cs typeface="Times New Roman"/>
              </a:rPr>
              <a:t>shout (1.10 pt)</a:t>
            </a:r>
          </a:p>
        </p:txBody>
      </p:sp>
      <p:cxnSp>
        <p:nvCxnSpPr>
          <p:cNvPr id="241" name="Flow lwsrc_hairline-lwdst_hairline 241"/>
          <p:cNvCxnSpPr/>
          <p:nvPr/>
        </p:nvCxnSpPr>
        <p:spPr>
          <a:xfrm>
            <a:off x="254000" y="8729980"/>
            <a:ext cx="330200" cy="0"/>
          </a:xfrm>
          <a:prstGeom prst="straightConnector1">
            <a:avLst/>
          </a:prstGeom>
          <a:noFill/>
          <a:ln w="2413" cap="flat">
            <a:solidFill>
              <a:srgbClr val="000000"/>
            </a:solidFill>
            <a:miter lim="800000"/>
            <a:tailEnd type="triangle" w="sm" len="sm"/>
          </a:ln>
        </p:spPr>
      </p:cxnSp>
      <p:cxnSp>
        <p:nvCxnSpPr>
          <p:cNvPr id="242" name="Flow lwsrc_thin-lwdst_thin 242"/>
          <p:cNvCxnSpPr/>
          <p:nvPr/>
        </p:nvCxnSpPr>
        <p:spPr>
          <a:xfrm>
            <a:off x="1955800" y="8729980"/>
            <a:ext cx="330200" cy="0"/>
          </a:xfrm>
          <a:prstGeom prst="straightConnector1">
            <a:avLst/>
          </a:prstGeom>
          <a:noFill/>
          <a:ln w="3556" cap="flat">
            <a:solidFill>
              <a:srgbClr val="000000"/>
            </a:solidFill>
            <a:miter lim="800000"/>
            <a:tailEnd type="triangle" w="sm" len="sm"/>
          </a:ln>
        </p:spPr>
      </p:cxnSp>
      <p:cxnSp>
        <p:nvCxnSpPr>
          <p:cNvPr id="243" name="Flow lwsrc_box-lwdst_box 243"/>
          <p:cNvCxnSpPr/>
          <p:nvPr/>
        </p:nvCxnSpPr>
        <p:spPr>
          <a:xfrm>
            <a:off x="3657600" y="8729980"/>
            <a:ext cx="330200" cy="0"/>
          </a:xfrm>
          <a:prstGeom prst="straightConnector1">
            <a:avLst/>
          </a:prstGeom>
          <a:noFill/>
          <a:ln w="4572" cap="flat">
            <a:solidFill>
              <a:srgbClr val="000000"/>
            </a:solidFill>
            <a:miter lim="800000"/>
            <a:tailEnd type="triangle" w="sm" len="sm"/>
          </a:ln>
        </p:spPr>
      </p:cxnSp>
      <p:cxnSp>
        <p:nvCxnSpPr>
          <p:cNvPr id="244" name="Flow lwsrc_flow-lwdst_flow 244"/>
          <p:cNvCxnSpPr/>
          <p:nvPr/>
        </p:nvCxnSpPr>
        <p:spPr>
          <a:xfrm>
            <a:off x="7061200" y="8729980"/>
            <a:ext cx="330200" cy="0"/>
          </a:xfrm>
          <a:prstGeom prst="straightConnector1">
            <a:avLst/>
          </a:prstGeom>
          <a:noFill/>
          <a:ln w="7620" cap="flat">
            <a:solidFill>
              <a:srgbClr val="000000"/>
            </a:solidFill>
            <a:miter lim="800000"/>
            <a:tailEnd type="triangle" w="sm" len="sm"/>
          </a:ln>
        </p:spPr>
      </p:cxnSp>
      <p:cxnSp>
        <p:nvCxnSpPr>
          <p:cNvPr id="245" name="Flow lwsrc_frame-lwdst_frame 245"/>
          <p:cNvCxnSpPr/>
          <p:nvPr/>
        </p:nvCxnSpPr>
        <p:spPr>
          <a:xfrm>
            <a:off x="5359400" y="8729980"/>
            <a:ext cx="330200" cy="0"/>
          </a:xfrm>
          <a:prstGeom prst="straightConnector1">
            <a:avLst/>
          </a:prstGeom>
          <a:noFill/>
          <a:ln w="4572" cap="flat">
            <a:solidFill>
              <a:srgbClr val="000000"/>
            </a:solidFill>
            <a:miter lim="800000"/>
            <a:tailEnd type="triangle" w="sm" len="sm"/>
          </a:ln>
        </p:spPr>
      </p:cxnSp>
      <p:cxnSp>
        <p:nvCxnSpPr>
          <p:cNvPr id="246" name="Flow lwsrc_emphasis-lwdst_emphasis 246"/>
          <p:cNvCxnSpPr/>
          <p:nvPr/>
        </p:nvCxnSpPr>
        <p:spPr>
          <a:xfrm>
            <a:off x="8763000" y="8729980"/>
            <a:ext cx="330200" cy="0"/>
          </a:xfrm>
          <a:prstGeom prst="straightConnector1">
            <a:avLst/>
          </a:prstGeom>
          <a:noFill/>
          <a:ln w="10160" cap="flat">
            <a:solidFill>
              <a:srgbClr val="000000"/>
            </a:solidFill>
            <a:miter lim="800000"/>
            <a:tailEnd type="triangle" w="sm" len="sm"/>
          </a:ln>
        </p:spPr>
      </p:cxnSp>
      <p:cxnSp>
        <p:nvCxnSpPr>
          <p:cNvPr id="247" name="Flow lwsrc_shout-lwdst_shout 247"/>
          <p:cNvCxnSpPr/>
          <p:nvPr/>
        </p:nvCxnSpPr>
        <p:spPr>
          <a:xfrm>
            <a:off x="10464800" y="8729980"/>
            <a:ext cx="330200" cy="0"/>
          </a:xfrm>
          <a:prstGeom prst="straightConnector1">
            <a:avLst/>
          </a:prstGeom>
          <a:noFill/>
          <a:ln w="13970" cap="flat">
            <a:solidFill>
              <a:srgbClr val="000000"/>
            </a:solidFill>
            <a:miter lim="800000"/>
            <a:tailEnd type="triangle" w="sm" len="sm"/>
          </a:ln>
        </p:spPr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VPR-Fig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